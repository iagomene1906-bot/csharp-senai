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714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717675" y="835278"/>
            <a:ext cx="462089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812291"/>
            <a:ext cx="11661647" cy="51816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76019" y="835278"/>
            <a:ext cx="983996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17675" y="1654301"/>
            <a:ext cx="9105900" cy="1708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3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24354" y="2455290"/>
            <a:ext cx="8733155" cy="1159510"/>
          </a:xfrm>
          <a:prstGeom prst="rect">
            <a:avLst/>
          </a:prstGeom>
        </p:spPr>
        <p:txBody>
          <a:bodyPr vert="horz" wrap="square" lIns="0" tIns="219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30"/>
              </a:spcBef>
            </a:pPr>
            <a:r>
              <a:rPr spc="-210" dirty="0"/>
              <a:t>Instalação</a:t>
            </a:r>
            <a:r>
              <a:rPr spc="-285" dirty="0"/>
              <a:t> </a:t>
            </a:r>
            <a:r>
              <a:rPr spc="-145" dirty="0"/>
              <a:t>Visual</a:t>
            </a:r>
            <a:r>
              <a:rPr spc="-225" dirty="0"/>
              <a:t> </a:t>
            </a:r>
            <a:r>
              <a:rPr spc="-130" dirty="0"/>
              <a:t>Studio</a:t>
            </a:r>
            <a:r>
              <a:rPr spc="-280" dirty="0"/>
              <a:t> </a:t>
            </a:r>
            <a:r>
              <a:rPr spc="-25" dirty="0"/>
              <a:t>Community</a:t>
            </a: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800" b="0" spc="-70" dirty="0">
                <a:latin typeface="Verdana"/>
                <a:cs typeface="Verdana"/>
              </a:rPr>
              <a:t>Curso:</a:t>
            </a:r>
            <a:r>
              <a:rPr sz="1800" b="0" spc="-45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Fundamentos</a:t>
            </a:r>
            <a:r>
              <a:rPr sz="1800" b="0" spc="60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em</a:t>
            </a:r>
            <a:r>
              <a:rPr sz="1800" b="0" spc="140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Programação</a:t>
            </a:r>
            <a:r>
              <a:rPr sz="1800" b="0" spc="80" dirty="0">
                <a:latin typeface="Verdana"/>
                <a:cs typeface="Verdana"/>
              </a:rPr>
              <a:t> </a:t>
            </a:r>
            <a:r>
              <a:rPr sz="1800" b="0" spc="50" dirty="0">
                <a:latin typeface="Verdana"/>
                <a:cs typeface="Verdana"/>
              </a:rPr>
              <a:t>com</a:t>
            </a:r>
            <a:r>
              <a:rPr sz="1800" b="0" spc="145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Linguagem</a:t>
            </a:r>
            <a:r>
              <a:rPr sz="1800" b="0" spc="150" dirty="0">
                <a:latin typeface="Verdana"/>
                <a:cs typeface="Verdana"/>
              </a:rPr>
              <a:t> </a:t>
            </a:r>
            <a:r>
              <a:rPr sz="1800" b="0" spc="-60" dirty="0">
                <a:latin typeface="Verdana"/>
                <a:cs typeface="Verdana"/>
              </a:rPr>
              <a:t>C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05443" y="3389376"/>
            <a:ext cx="146303" cy="1615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7675" y="1656029"/>
            <a:ext cx="5975350" cy="1128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No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navegador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digitamos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b="1" spc="-80" dirty="0">
                <a:latin typeface="Verdana"/>
                <a:cs typeface="Verdana"/>
              </a:rPr>
              <a:t>Visual</a:t>
            </a:r>
            <a:r>
              <a:rPr sz="1800" b="1" spc="-125" dirty="0">
                <a:latin typeface="Verdana"/>
                <a:cs typeface="Verdana"/>
              </a:rPr>
              <a:t> </a:t>
            </a:r>
            <a:r>
              <a:rPr sz="1800" b="1" spc="-65" dirty="0">
                <a:latin typeface="Verdana"/>
                <a:cs typeface="Verdana"/>
              </a:rPr>
              <a:t>Studio</a:t>
            </a:r>
            <a:r>
              <a:rPr sz="1800" b="1" spc="-135" dirty="0">
                <a:latin typeface="Verdana"/>
                <a:cs typeface="Verdana"/>
              </a:rPr>
              <a:t> </a:t>
            </a:r>
            <a:r>
              <a:rPr sz="1800" b="1" spc="-10" dirty="0">
                <a:latin typeface="Verdana"/>
                <a:cs typeface="Verdana"/>
              </a:rPr>
              <a:t>Community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5600" algn="l"/>
              </a:tabLst>
            </a:pPr>
            <a:r>
              <a:rPr sz="1800" dirty="0">
                <a:latin typeface="Verdana"/>
                <a:cs typeface="Verdana"/>
              </a:rPr>
              <a:t>Verifique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</a:t>
            </a:r>
            <a:r>
              <a:rPr sz="1800" spc="-1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link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40" dirty="0">
                <a:latin typeface="Verdana"/>
                <a:cs typeface="Verdana"/>
              </a:rPr>
              <a:t>se</a:t>
            </a:r>
            <a:r>
              <a:rPr sz="1800" spc="-17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é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da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Microsoft;</a:t>
            </a:r>
            <a:endParaRPr sz="18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5600" algn="l"/>
              </a:tabLst>
            </a:pPr>
            <a:r>
              <a:rPr sz="1800" dirty="0">
                <a:latin typeface="Verdana"/>
                <a:cs typeface="Verdana"/>
              </a:rPr>
              <a:t>Click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no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link.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34411" y="3127248"/>
            <a:ext cx="7124700" cy="2327148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3085">
              <a:lnSpc>
                <a:spcPct val="100000"/>
              </a:lnSpc>
              <a:spcBef>
                <a:spcPts val="100"/>
              </a:spcBef>
            </a:pPr>
            <a:r>
              <a:rPr spc="-175" dirty="0"/>
              <a:t>Instalação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7675" y="1656029"/>
            <a:ext cx="52565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Após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entrar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na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página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clicar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em </a:t>
            </a:r>
            <a:r>
              <a:rPr sz="1800" spc="-10" dirty="0">
                <a:latin typeface="Verdana"/>
                <a:cs typeface="Verdana"/>
              </a:rPr>
              <a:t>“Downloads”.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5" dirty="0"/>
              <a:t>Instalação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7711" y="2465832"/>
            <a:ext cx="7653528" cy="19248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7675" y="1656029"/>
            <a:ext cx="357060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Clicar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em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“Download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gratuito”.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5" dirty="0"/>
              <a:t>Instalação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38983" y="2185416"/>
            <a:ext cx="7114032" cy="30373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7675" y="1656029"/>
            <a:ext cx="90697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Ao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término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do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download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procure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pelo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arquivo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clique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para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iniciar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instalação.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3085">
              <a:lnSpc>
                <a:spcPct val="100000"/>
              </a:lnSpc>
              <a:spcBef>
                <a:spcPts val="100"/>
              </a:spcBef>
            </a:pPr>
            <a:r>
              <a:rPr spc="-175" dirty="0"/>
              <a:t>Instalação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8300" y="2167127"/>
            <a:ext cx="2182368" cy="4953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717675" y="2846070"/>
            <a:ext cx="47517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Quando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instalador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iniciar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clicar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em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sim.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8300" y="3355847"/>
            <a:ext cx="2991612" cy="2209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7675" y="1656029"/>
            <a:ext cx="58934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Clique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em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continuar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aguarde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processo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finalizar.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5" dirty="0"/>
              <a:t>Instalação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733800" y="2103120"/>
            <a:ext cx="4724400" cy="4533900"/>
            <a:chOff x="3733800" y="2103120"/>
            <a:chExt cx="4724400" cy="45339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33800" y="2103120"/>
              <a:ext cx="4724400" cy="288645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95344" y="4989576"/>
              <a:ext cx="4401311" cy="164744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7675" y="1656029"/>
            <a:ext cx="854075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Agora</a:t>
            </a:r>
            <a:r>
              <a:rPr sz="1800" spc="-15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vamos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selecionar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50" dirty="0">
                <a:latin typeface="Verdana"/>
                <a:cs typeface="Verdana"/>
              </a:rPr>
              <a:t>com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50" dirty="0">
                <a:latin typeface="Verdana"/>
                <a:cs typeface="Verdana"/>
              </a:rPr>
              <a:t>um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flag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“Desenvolvimento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para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desktop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30" dirty="0">
                <a:latin typeface="Verdana"/>
                <a:cs typeface="Verdana"/>
              </a:rPr>
              <a:t>com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65" dirty="0">
                <a:latin typeface="Verdana"/>
                <a:cs typeface="Verdana"/>
              </a:rPr>
              <a:t>.Net”</a:t>
            </a:r>
            <a:r>
              <a:rPr sz="1800" spc="-1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depois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clicar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em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instalar.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3085">
              <a:lnSpc>
                <a:spcPct val="100000"/>
              </a:lnSpc>
              <a:spcBef>
                <a:spcPts val="100"/>
              </a:spcBef>
            </a:pPr>
            <a:r>
              <a:rPr spc="-175" dirty="0"/>
              <a:t>Instalação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19" y="3930396"/>
            <a:ext cx="3470148" cy="84124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38115" y="2442972"/>
            <a:ext cx="6684264" cy="38145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7675" y="1656029"/>
            <a:ext cx="24657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Aguarde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finalização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5" dirty="0"/>
              <a:t>Instalação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8300" y="2322576"/>
            <a:ext cx="3980688" cy="29001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82055" y="2325623"/>
            <a:ext cx="4765548" cy="28940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7675" y="1656029"/>
            <a:ext cx="900557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Após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finalizado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-35" dirty="0">
                <a:latin typeface="Verdana"/>
                <a:cs typeface="Verdana"/>
              </a:rPr>
              <a:t>instalação,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podemos </a:t>
            </a:r>
            <a:r>
              <a:rPr sz="1800" spc="-10" dirty="0">
                <a:latin typeface="Verdana"/>
                <a:cs typeface="Verdana"/>
              </a:rPr>
              <a:t>fechar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40" dirty="0">
                <a:latin typeface="Verdana"/>
                <a:cs typeface="Verdana"/>
              </a:rPr>
              <a:t>as</a:t>
            </a:r>
            <a:r>
              <a:rPr sz="1800" spc="-155" dirty="0">
                <a:latin typeface="Verdana"/>
                <a:cs typeface="Verdana"/>
              </a:rPr>
              <a:t> </a:t>
            </a:r>
            <a:r>
              <a:rPr sz="1800" spc="-35" dirty="0">
                <a:latin typeface="Verdana"/>
                <a:cs typeface="Verdana"/>
              </a:rPr>
              <a:t>telas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instalação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que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ficaram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20" dirty="0">
                <a:latin typeface="Verdana"/>
                <a:cs typeface="Verdana"/>
              </a:rPr>
              <a:t>abertas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nessa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tela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que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-40" dirty="0">
                <a:latin typeface="Verdana"/>
                <a:cs typeface="Verdana"/>
              </a:rPr>
              <a:t>se</a:t>
            </a:r>
            <a:r>
              <a:rPr sz="1800" spc="-1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abriu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clicamos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em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“Continuar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sem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código”.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3085">
              <a:lnSpc>
                <a:spcPct val="100000"/>
              </a:lnSpc>
              <a:spcBef>
                <a:spcPts val="100"/>
              </a:spcBef>
            </a:pPr>
            <a:r>
              <a:rPr spc="-175" dirty="0"/>
              <a:t>Instalação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2951" y="2407918"/>
            <a:ext cx="7620000" cy="43327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3085">
              <a:lnSpc>
                <a:spcPct val="100000"/>
              </a:lnSpc>
              <a:spcBef>
                <a:spcPts val="100"/>
              </a:spcBef>
            </a:pPr>
            <a:r>
              <a:rPr spc="-175" dirty="0"/>
              <a:t>Instalação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2035" y="1882139"/>
            <a:ext cx="8567927" cy="41498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7675" y="1654301"/>
            <a:ext cx="9109710" cy="3390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000" b="1" spc="-60" dirty="0">
                <a:latin typeface="Verdana"/>
                <a:cs typeface="Verdana"/>
              </a:rPr>
              <a:t>Linguagem</a:t>
            </a:r>
            <a:r>
              <a:rPr sz="2000" b="1" spc="-145" dirty="0">
                <a:latin typeface="Verdana"/>
                <a:cs typeface="Verdana"/>
              </a:rPr>
              <a:t> </a:t>
            </a:r>
            <a:r>
              <a:rPr sz="2000" b="1" spc="-20" dirty="0">
                <a:latin typeface="Verdana"/>
                <a:cs typeface="Verdana"/>
              </a:rPr>
              <a:t>de</a:t>
            </a:r>
            <a:r>
              <a:rPr sz="2000" b="1" spc="-130" dirty="0">
                <a:latin typeface="Verdana"/>
                <a:cs typeface="Verdana"/>
              </a:rPr>
              <a:t> </a:t>
            </a:r>
            <a:r>
              <a:rPr sz="2000" b="1" spc="-10" dirty="0">
                <a:latin typeface="Verdana"/>
                <a:cs typeface="Verdana"/>
              </a:rPr>
              <a:t>Programação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2405"/>
              </a:spcBef>
              <a:buFont typeface="Arial MT"/>
              <a:buChar char="•"/>
              <a:tabLst>
                <a:tab pos="354965" algn="l"/>
              </a:tabLst>
            </a:pPr>
            <a:r>
              <a:rPr sz="1800" spc="-10" dirty="0">
                <a:latin typeface="Verdana"/>
                <a:cs typeface="Verdana"/>
              </a:rPr>
              <a:t>Tipada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800" spc="-10" dirty="0">
                <a:latin typeface="Verdana"/>
                <a:cs typeface="Verdana"/>
              </a:rPr>
              <a:t>Compilada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800" spc="-10" dirty="0">
                <a:latin typeface="Verdana"/>
                <a:cs typeface="Verdana"/>
              </a:rPr>
              <a:t>Gerenciada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>
              <a:latin typeface="Verdana"/>
              <a:cs typeface="Verdana"/>
            </a:endParaRPr>
          </a:p>
          <a:p>
            <a:pPr marL="12700" marR="8255" algn="just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Criada</a:t>
            </a:r>
            <a:r>
              <a:rPr sz="1800" spc="4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por</a:t>
            </a:r>
            <a:r>
              <a:rPr sz="1800" spc="4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Anders</a:t>
            </a:r>
            <a:r>
              <a:rPr sz="1800" spc="4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Hejlsberg</a:t>
            </a:r>
            <a:r>
              <a:rPr sz="1800" spc="4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em</a:t>
            </a:r>
            <a:r>
              <a:rPr sz="1800" spc="-55" dirty="0">
                <a:latin typeface="Verdana"/>
                <a:cs typeface="Verdana"/>
              </a:rPr>
              <a:t>  </a:t>
            </a:r>
            <a:r>
              <a:rPr sz="1800" dirty="0">
                <a:latin typeface="Verdana"/>
                <a:cs typeface="Verdana"/>
              </a:rPr>
              <a:t>meados</a:t>
            </a:r>
            <a:r>
              <a:rPr sz="1800" spc="4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</a:t>
            </a:r>
            <a:r>
              <a:rPr sz="1800" spc="4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2001,</a:t>
            </a:r>
            <a:r>
              <a:rPr sz="1800" spc="3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principal</a:t>
            </a:r>
            <a:r>
              <a:rPr sz="1800" spc="47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linguagem</a:t>
            </a:r>
            <a:r>
              <a:rPr sz="1800" spc="-55" dirty="0">
                <a:latin typeface="Verdana"/>
                <a:cs typeface="Verdana"/>
              </a:rPr>
              <a:t>  </a:t>
            </a:r>
            <a:r>
              <a:rPr sz="1800" spc="-25" dirty="0">
                <a:latin typeface="Verdana"/>
                <a:cs typeface="Verdana"/>
              </a:rPr>
              <a:t>da </a:t>
            </a:r>
            <a:r>
              <a:rPr sz="1800" spc="-10" dirty="0">
                <a:latin typeface="Verdana"/>
                <a:cs typeface="Verdana"/>
              </a:rPr>
              <a:t>Microsoft.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800">
              <a:latin typeface="Verdana"/>
              <a:cs typeface="Verdana"/>
            </a:endParaRPr>
          </a:p>
          <a:p>
            <a:pPr marL="12700" marR="5080" algn="just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É</a:t>
            </a:r>
            <a:r>
              <a:rPr sz="1800" spc="4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uma</a:t>
            </a:r>
            <a:r>
              <a:rPr sz="1800" spc="434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Linguagem</a:t>
            </a:r>
            <a:r>
              <a:rPr sz="1800" spc="4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completa,</a:t>
            </a:r>
            <a:r>
              <a:rPr sz="1800" spc="370" dirty="0">
                <a:latin typeface="Verdana"/>
                <a:cs typeface="Verdana"/>
              </a:rPr>
              <a:t> </a:t>
            </a:r>
            <a:r>
              <a:rPr sz="1800" spc="50" dirty="0">
                <a:latin typeface="Verdana"/>
                <a:cs typeface="Verdana"/>
              </a:rPr>
              <a:t>com</a:t>
            </a:r>
            <a:r>
              <a:rPr sz="1800" spc="4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muita</a:t>
            </a:r>
            <a:r>
              <a:rPr sz="1800" spc="3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maturidade</a:t>
            </a:r>
            <a:r>
              <a:rPr sz="1800" spc="4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</a:t>
            </a:r>
            <a:r>
              <a:rPr sz="1800" spc="3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tempo</a:t>
            </a:r>
            <a:r>
              <a:rPr sz="1800" spc="4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</a:t>
            </a:r>
            <a:r>
              <a:rPr sz="1800" spc="36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mercado, </a:t>
            </a:r>
            <a:r>
              <a:rPr sz="1800" dirty="0">
                <a:latin typeface="Verdana"/>
                <a:cs typeface="Verdana"/>
              </a:rPr>
              <a:t>possuindo</a:t>
            </a:r>
            <a:r>
              <a:rPr sz="1800" spc="345" dirty="0">
                <a:latin typeface="Verdana"/>
                <a:cs typeface="Verdana"/>
              </a:rPr>
              <a:t> </a:t>
            </a:r>
            <a:r>
              <a:rPr sz="1800" spc="50" dirty="0">
                <a:latin typeface="Verdana"/>
                <a:cs typeface="Verdana"/>
              </a:rPr>
              <a:t>uma</a:t>
            </a:r>
            <a:r>
              <a:rPr sz="1800" spc="4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grande</a:t>
            </a:r>
            <a:r>
              <a:rPr sz="1800" spc="3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comunidade,</a:t>
            </a:r>
            <a:r>
              <a:rPr sz="1800" spc="355" dirty="0">
                <a:latin typeface="Verdana"/>
                <a:cs typeface="Verdana"/>
              </a:rPr>
              <a:t> </a:t>
            </a:r>
            <a:r>
              <a:rPr sz="1800" spc="50" dirty="0">
                <a:latin typeface="Verdana"/>
                <a:cs typeface="Verdana"/>
              </a:rPr>
              <a:t>como</a:t>
            </a:r>
            <a:r>
              <a:rPr sz="1800" spc="409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também</a:t>
            </a:r>
            <a:r>
              <a:rPr sz="1800" spc="4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tendo</a:t>
            </a:r>
            <a:r>
              <a:rPr sz="1800" spc="3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várias</a:t>
            </a:r>
            <a:r>
              <a:rPr sz="1800" spc="3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aplicações </a:t>
            </a:r>
            <a:r>
              <a:rPr sz="1800" spc="50" dirty="0">
                <a:latin typeface="Verdana"/>
                <a:cs typeface="Verdana"/>
              </a:rPr>
              <a:t>como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60" dirty="0">
                <a:latin typeface="Verdana"/>
                <a:cs typeface="Verdana"/>
              </a:rPr>
              <a:t>jogos,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web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entre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outros,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além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ser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orientada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objetos.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3085">
              <a:lnSpc>
                <a:spcPct val="100000"/>
              </a:lnSpc>
              <a:spcBef>
                <a:spcPts val="100"/>
              </a:spcBef>
            </a:pPr>
            <a:r>
              <a:rPr spc="-160" dirty="0"/>
              <a:t>Características</a:t>
            </a:r>
            <a:r>
              <a:rPr spc="-235" dirty="0"/>
              <a:t> </a:t>
            </a:r>
            <a:r>
              <a:rPr spc="-65" dirty="0"/>
              <a:t>da</a:t>
            </a:r>
            <a:r>
              <a:rPr spc="-285" dirty="0"/>
              <a:t> </a:t>
            </a:r>
            <a:r>
              <a:rPr spc="-100" dirty="0"/>
              <a:t>Linguagem</a:t>
            </a:r>
            <a:r>
              <a:rPr spc="-155" dirty="0"/>
              <a:t> </a:t>
            </a:r>
            <a:r>
              <a:rPr spc="-50" dirty="0"/>
              <a:t>C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0407" y="987552"/>
            <a:ext cx="313944" cy="32003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7675" y="1637741"/>
            <a:ext cx="9071610" cy="1403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Algumas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linguagens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(assim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C#)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também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são chamadas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fortemente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tipadas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obrigam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especificar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tipo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dado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informação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Menor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liberdade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Maior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otimização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3085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Tipagem</a:t>
            </a:r>
            <a:r>
              <a:rPr spc="-305" dirty="0"/>
              <a:t> </a:t>
            </a:r>
            <a:r>
              <a:rPr spc="-30" dirty="0"/>
              <a:t>de</a:t>
            </a:r>
            <a:r>
              <a:rPr spc="-250" dirty="0"/>
              <a:t> </a:t>
            </a:r>
            <a:r>
              <a:rPr spc="-125" dirty="0"/>
              <a:t>Dados</a:t>
            </a:r>
            <a:r>
              <a:rPr spc="-315" dirty="0"/>
              <a:t> </a:t>
            </a:r>
            <a:r>
              <a:rPr spc="-50" dirty="0"/>
              <a:t>C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93407" y="987552"/>
            <a:ext cx="313944" cy="32003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pc="-75" dirty="0"/>
              <a:t>Tipo</a:t>
            </a:r>
            <a:r>
              <a:rPr spc="-200" dirty="0"/>
              <a:t> </a:t>
            </a:r>
            <a:r>
              <a:rPr spc="-20" dirty="0"/>
              <a:t>de</a:t>
            </a:r>
            <a:r>
              <a:rPr spc="-135" dirty="0"/>
              <a:t> </a:t>
            </a:r>
            <a:r>
              <a:rPr spc="-20" dirty="0"/>
              <a:t>Dado</a:t>
            </a:r>
          </a:p>
          <a:p>
            <a:pPr marL="12700" marR="5080" algn="just">
              <a:lnSpc>
                <a:spcPct val="100000"/>
              </a:lnSpc>
              <a:spcBef>
                <a:spcPts val="2200"/>
              </a:spcBef>
            </a:pPr>
            <a:r>
              <a:rPr sz="1800" b="0" spc="60" dirty="0">
                <a:latin typeface="Verdana"/>
                <a:cs typeface="Verdana"/>
              </a:rPr>
              <a:t>Um</a:t>
            </a:r>
            <a:r>
              <a:rPr sz="1800" b="0" spc="385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tipo</a:t>
            </a:r>
            <a:r>
              <a:rPr sz="1800" b="0" spc="290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de</a:t>
            </a:r>
            <a:r>
              <a:rPr sz="1800" b="0" spc="315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dado</a:t>
            </a:r>
            <a:r>
              <a:rPr sz="1800" b="0" spc="290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define</a:t>
            </a:r>
            <a:r>
              <a:rPr sz="1800" b="0" spc="325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o</a:t>
            </a:r>
            <a:r>
              <a:rPr sz="1800" b="0" spc="270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formato</a:t>
            </a:r>
            <a:r>
              <a:rPr sz="1800" b="0" spc="270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dele,</a:t>
            </a:r>
            <a:r>
              <a:rPr sz="1800" b="0" spc="295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onde</a:t>
            </a:r>
            <a:r>
              <a:rPr sz="1800" b="0" spc="275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definimos,</a:t>
            </a:r>
            <a:r>
              <a:rPr sz="1800" b="0" spc="310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por</a:t>
            </a:r>
            <a:r>
              <a:rPr sz="1800" b="0" spc="295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exemplo,</a:t>
            </a:r>
            <a:r>
              <a:rPr sz="1800" b="0" spc="295" dirty="0">
                <a:latin typeface="Verdana"/>
                <a:cs typeface="Verdana"/>
              </a:rPr>
              <a:t> </a:t>
            </a:r>
            <a:r>
              <a:rPr sz="1800" b="0" spc="-25" dirty="0">
                <a:latin typeface="Verdana"/>
                <a:cs typeface="Verdana"/>
              </a:rPr>
              <a:t>que </a:t>
            </a:r>
            <a:r>
              <a:rPr sz="1800" b="0" dirty="0">
                <a:latin typeface="Verdana"/>
                <a:cs typeface="Verdana"/>
              </a:rPr>
              <a:t>aquela</a:t>
            </a:r>
            <a:r>
              <a:rPr sz="1800" b="0" spc="-20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informação</a:t>
            </a:r>
            <a:r>
              <a:rPr sz="1800" b="0" spc="-35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é</a:t>
            </a:r>
            <a:r>
              <a:rPr sz="1800" b="0" spc="-35" dirty="0">
                <a:latin typeface="Verdana"/>
                <a:cs typeface="Verdana"/>
              </a:rPr>
              <a:t> </a:t>
            </a:r>
            <a:r>
              <a:rPr sz="1800" b="0" spc="50" dirty="0">
                <a:latin typeface="Verdana"/>
                <a:cs typeface="Verdana"/>
              </a:rPr>
              <a:t>um</a:t>
            </a:r>
            <a:r>
              <a:rPr sz="1800" b="0" spc="85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número,</a:t>
            </a:r>
            <a:r>
              <a:rPr sz="1800" b="0" spc="-20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uma</a:t>
            </a:r>
            <a:r>
              <a:rPr sz="1800" b="0" spc="45" dirty="0">
                <a:latin typeface="Verdana"/>
                <a:cs typeface="Verdana"/>
              </a:rPr>
              <a:t> </a:t>
            </a:r>
            <a:r>
              <a:rPr sz="1800" b="0" spc="-60" dirty="0">
                <a:latin typeface="Verdana"/>
                <a:cs typeface="Verdana"/>
              </a:rPr>
              <a:t>letra,</a:t>
            </a:r>
            <a:r>
              <a:rPr sz="1800" b="0" spc="-85" dirty="0">
                <a:latin typeface="Verdana"/>
                <a:cs typeface="Verdana"/>
              </a:rPr>
              <a:t> </a:t>
            </a:r>
            <a:r>
              <a:rPr sz="1800" b="0" spc="45" dirty="0">
                <a:latin typeface="Verdana"/>
                <a:cs typeface="Verdana"/>
              </a:rPr>
              <a:t>uma</a:t>
            </a:r>
            <a:r>
              <a:rPr sz="1800" b="0" spc="35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cadeia</a:t>
            </a:r>
            <a:r>
              <a:rPr sz="1800" b="0" spc="-20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de</a:t>
            </a:r>
            <a:r>
              <a:rPr sz="1800" b="0" spc="30" dirty="0">
                <a:latin typeface="Verdana"/>
                <a:cs typeface="Verdana"/>
              </a:rPr>
              <a:t> </a:t>
            </a:r>
            <a:r>
              <a:rPr sz="1800" b="0" spc="-10" dirty="0">
                <a:latin typeface="Verdana"/>
                <a:cs typeface="Verdana"/>
              </a:rPr>
              <a:t>caracteres</a:t>
            </a:r>
            <a:r>
              <a:rPr sz="1800" b="0" spc="-35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e</a:t>
            </a:r>
            <a:r>
              <a:rPr sz="1800" b="0" spc="-35" dirty="0">
                <a:latin typeface="Verdana"/>
                <a:cs typeface="Verdana"/>
              </a:rPr>
              <a:t> </a:t>
            </a:r>
            <a:r>
              <a:rPr sz="1800" b="0" spc="-10" dirty="0">
                <a:latin typeface="Verdana"/>
                <a:cs typeface="Verdana"/>
              </a:rPr>
              <a:t>assim </a:t>
            </a:r>
            <a:r>
              <a:rPr sz="1800" b="0" dirty="0">
                <a:latin typeface="Verdana"/>
                <a:cs typeface="Verdana"/>
              </a:rPr>
              <a:t>por</a:t>
            </a:r>
            <a:r>
              <a:rPr sz="1800" b="0" spc="-100" dirty="0">
                <a:latin typeface="Verdana"/>
                <a:cs typeface="Verdana"/>
              </a:rPr>
              <a:t> </a:t>
            </a:r>
            <a:r>
              <a:rPr sz="1800" b="0" spc="-10" dirty="0">
                <a:latin typeface="Verdana"/>
                <a:cs typeface="Verdana"/>
              </a:rPr>
              <a:t>diante.</a:t>
            </a:r>
            <a:endParaRPr sz="1800">
              <a:latin typeface="Verdana"/>
              <a:cs typeface="Verdana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800" b="0" dirty="0">
                <a:latin typeface="Verdana"/>
                <a:cs typeface="Verdana"/>
              </a:rPr>
              <a:t>O</a:t>
            </a:r>
            <a:r>
              <a:rPr sz="1800" b="0" spc="25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que</a:t>
            </a:r>
            <a:r>
              <a:rPr sz="1800" b="0" spc="-5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significa</a:t>
            </a:r>
            <a:r>
              <a:rPr sz="1800" b="0" spc="-20" dirty="0">
                <a:latin typeface="Verdana"/>
                <a:cs typeface="Verdana"/>
              </a:rPr>
              <a:t> </a:t>
            </a:r>
            <a:r>
              <a:rPr sz="1800" b="0" spc="-50" dirty="0">
                <a:latin typeface="Verdana"/>
                <a:cs typeface="Verdana"/>
              </a:rPr>
              <a:t>ser</a:t>
            </a:r>
            <a:r>
              <a:rPr sz="1800" b="0" spc="-95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uma</a:t>
            </a:r>
            <a:r>
              <a:rPr sz="1800" b="0" spc="25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linguagem</a:t>
            </a:r>
            <a:r>
              <a:rPr sz="1800" b="0" spc="5" dirty="0">
                <a:latin typeface="Verdana"/>
                <a:cs typeface="Verdana"/>
              </a:rPr>
              <a:t> </a:t>
            </a:r>
            <a:r>
              <a:rPr sz="1800" b="0" spc="-10" dirty="0">
                <a:latin typeface="Verdana"/>
                <a:cs typeface="Verdana"/>
              </a:rPr>
              <a:t>tipada?</a:t>
            </a:r>
            <a:endParaRPr sz="1800">
              <a:latin typeface="Verdana"/>
              <a:cs typeface="Verdan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705864" y="3669815"/>
          <a:ext cx="3178174" cy="10483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2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7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0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0190">
                <a:tc>
                  <a:txBody>
                    <a:bodyPr/>
                    <a:lstStyle/>
                    <a:p>
                      <a:pPr marL="31750">
                        <a:lnSpc>
                          <a:spcPts val="1695"/>
                        </a:lnSpc>
                      </a:pPr>
                      <a:r>
                        <a:rPr sz="1800" b="1" spc="-25" dirty="0">
                          <a:latin typeface="Consolas"/>
                          <a:cs typeface="Consolas"/>
                        </a:rPr>
                        <a:t>int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95"/>
                        </a:lnSpc>
                      </a:pPr>
                      <a:r>
                        <a:rPr sz="1800" spc="-10" dirty="0">
                          <a:latin typeface="Consolas"/>
                          <a:cs typeface="Consolas"/>
                        </a:rPr>
                        <a:t>idade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695"/>
                        </a:lnSpc>
                      </a:pPr>
                      <a:r>
                        <a:rPr sz="1800" spc="-50" dirty="0">
                          <a:latin typeface="Consolas"/>
                          <a:cs typeface="Consolas"/>
                        </a:rPr>
                        <a:t>=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69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18;</a:t>
                      </a:r>
                      <a:r>
                        <a:rPr sz="1800" spc="-4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//</a:t>
                      </a:r>
                      <a:r>
                        <a:rPr sz="1800" spc="-45" dirty="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5" dirty="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OK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31750">
                        <a:lnSpc>
                          <a:spcPts val="1870"/>
                        </a:lnSpc>
                      </a:pPr>
                      <a:r>
                        <a:rPr sz="1800" b="1" spc="-25" dirty="0">
                          <a:latin typeface="Consolas"/>
                          <a:cs typeface="Consolas"/>
                        </a:rPr>
                        <a:t>int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0"/>
                        </a:lnSpc>
                      </a:pPr>
                      <a:r>
                        <a:rPr sz="1800" spc="-10" dirty="0">
                          <a:latin typeface="Consolas"/>
                          <a:cs typeface="Consolas"/>
                        </a:rPr>
                        <a:t>idade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870"/>
                        </a:lnSpc>
                      </a:pPr>
                      <a:r>
                        <a:rPr sz="1800" spc="-50" dirty="0">
                          <a:latin typeface="Consolas"/>
                          <a:cs typeface="Consolas"/>
                        </a:rPr>
                        <a:t>=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870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18.2;</a:t>
                      </a:r>
                      <a:r>
                        <a:rPr sz="1800" spc="-7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//</a:t>
                      </a:r>
                      <a:r>
                        <a:rPr sz="1800" spc="-40" dirty="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0" dirty="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ERRO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spc="-25" dirty="0">
                          <a:latin typeface="Consolas"/>
                          <a:cs typeface="Consolas"/>
                        </a:rPr>
                        <a:t>int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</a:pPr>
                      <a:r>
                        <a:rPr sz="1800" spc="-10" dirty="0">
                          <a:latin typeface="Consolas"/>
                          <a:cs typeface="Consolas"/>
                        </a:rPr>
                        <a:t>idade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875"/>
                        </a:lnSpc>
                      </a:pPr>
                      <a:r>
                        <a:rPr sz="1800" spc="-50" dirty="0">
                          <a:latin typeface="Consolas"/>
                          <a:cs typeface="Consolas"/>
                        </a:rPr>
                        <a:t>=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“18”;</a:t>
                      </a:r>
                      <a:r>
                        <a:rPr sz="1800" spc="-4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//</a:t>
                      </a:r>
                      <a:r>
                        <a:rPr sz="1800" spc="-40" dirty="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0" dirty="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ERRO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spc="-25" dirty="0">
                          <a:latin typeface="Consolas"/>
                          <a:cs typeface="Consolas"/>
                        </a:rPr>
                        <a:t>int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</a:pPr>
                      <a:r>
                        <a:rPr sz="1800" spc="-10" dirty="0">
                          <a:latin typeface="Consolas"/>
                          <a:cs typeface="Consolas"/>
                        </a:rPr>
                        <a:t>idade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875"/>
                        </a:lnSpc>
                      </a:pPr>
                      <a:r>
                        <a:rPr sz="1800" spc="-50" dirty="0">
                          <a:latin typeface="Consolas"/>
                          <a:cs typeface="Consolas"/>
                        </a:rPr>
                        <a:t>=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‘a’;</a:t>
                      </a:r>
                      <a:r>
                        <a:rPr sz="1800" spc="-5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//</a:t>
                      </a:r>
                      <a:r>
                        <a:rPr sz="1800" spc="-35" dirty="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0" dirty="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ERRO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717675" y="4980178"/>
            <a:ext cx="7475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Este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mesmo</a:t>
            </a:r>
            <a:r>
              <a:rPr sz="1800" spc="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exemplo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em</a:t>
            </a:r>
            <a:r>
              <a:rPr sz="1800" spc="45" dirty="0">
                <a:latin typeface="Verdana"/>
                <a:cs typeface="Verdana"/>
              </a:rPr>
              <a:t> </a:t>
            </a:r>
            <a:r>
              <a:rPr sz="1800" spc="-40" dirty="0">
                <a:latin typeface="Verdana"/>
                <a:cs typeface="Verdana"/>
              </a:rPr>
              <a:t>JavaScript,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uma</a:t>
            </a:r>
            <a:r>
              <a:rPr sz="1800" spc="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linguagem</a:t>
            </a:r>
            <a:r>
              <a:rPr sz="1800" spc="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não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tipada.</a:t>
            </a:r>
            <a:endParaRPr sz="1800">
              <a:latin typeface="Verdana"/>
              <a:cs typeface="Verdan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705864" y="5590944"/>
          <a:ext cx="2929889" cy="1047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2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7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17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0190">
                <a:tc>
                  <a:txBody>
                    <a:bodyPr/>
                    <a:lstStyle/>
                    <a:p>
                      <a:pPr marL="31750">
                        <a:lnSpc>
                          <a:spcPts val="1695"/>
                        </a:lnSpc>
                      </a:pPr>
                      <a:r>
                        <a:rPr sz="1800" b="1" spc="-25" dirty="0">
                          <a:latin typeface="Consolas"/>
                          <a:cs typeface="Consolas"/>
                        </a:rPr>
                        <a:t>let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95"/>
                        </a:lnSpc>
                      </a:pPr>
                      <a:r>
                        <a:rPr sz="1800" spc="-10" dirty="0">
                          <a:latin typeface="Consolas"/>
                          <a:cs typeface="Consolas"/>
                        </a:rPr>
                        <a:t>idade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695"/>
                        </a:lnSpc>
                      </a:pPr>
                      <a:r>
                        <a:rPr sz="1800" spc="-50" dirty="0">
                          <a:latin typeface="Consolas"/>
                          <a:cs typeface="Consolas"/>
                        </a:rPr>
                        <a:t>=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69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18;</a:t>
                      </a:r>
                      <a:r>
                        <a:rPr sz="1800" spc="-4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//</a:t>
                      </a:r>
                      <a:r>
                        <a:rPr sz="1800" spc="-45" dirty="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5" dirty="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OK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31750">
                        <a:lnSpc>
                          <a:spcPts val="1870"/>
                        </a:lnSpc>
                      </a:pPr>
                      <a:r>
                        <a:rPr sz="1800" b="1" spc="-25" dirty="0">
                          <a:latin typeface="Consolas"/>
                          <a:cs typeface="Consolas"/>
                        </a:rPr>
                        <a:t>let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0"/>
                        </a:lnSpc>
                      </a:pPr>
                      <a:r>
                        <a:rPr sz="1800" spc="-10" dirty="0">
                          <a:latin typeface="Consolas"/>
                          <a:cs typeface="Consolas"/>
                        </a:rPr>
                        <a:t>idade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870"/>
                        </a:lnSpc>
                      </a:pPr>
                      <a:r>
                        <a:rPr sz="1800" spc="-50" dirty="0">
                          <a:latin typeface="Consolas"/>
                          <a:cs typeface="Consolas"/>
                        </a:rPr>
                        <a:t>=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870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18.2;</a:t>
                      </a:r>
                      <a:r>
                        <a:rPr sz="1800" spc="-4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//</a:t>
                      </a:r>
                      <a:r>
                        <a:rPr sz="1800" spc="-35" dirty="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5" dirty="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OK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spc="-25" dirty="0">
                          <a:latin typeface="Consolas"/>
                          <a:cs typeface="Consolas"/>
                        </a:rPr>
                        <a:t>let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</a:pPr>
                      <a:r>
                        <a:rPr sz="1800" spc="-10" dirty="0">
                          <a:latin typeface="Consolas"/>
                          <a:cs typeface="Consolas"/>
                        </a:rPr>
                        <a:t>idade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875"/>
                        </a:lnSpc>
                      </a:pPr>
                      <a:r>
                        <a:rPr sz="1800" spc="-50" dirty="0">
                          <a:latin typeface="Consolas"/>
                          <a:cs typeface="Consolas"/>
                        </a:rPr>
                        <a:t>=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“18”;</a:t>
                      </a:r>
                      <a:r>
                        <a:rPr sz="1800" spc="-4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//</a:t>
                      </a:r>
                      <a:r>
                        <a:rPr sz="1800" spc="-35" dirty="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5" dirty="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OK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spc="-25" dirty="0">
                          <a:latin typeface="Consolas"/>
                          <a:cs typeface="Consolas"/>
                        </a:rPr>
                        <a:t>let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</a:pPr>
                      <a:r>
                        <a:rPr sz="1800" spc="-10" dirty="0">
                          <a:latin typeface="Consolas"/>
                          <a:cs typeface="Consolas"/>
                        </a:rPr>
                        <a:t>idade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875"/>
                        </a:lnSpc>
                      </a:pPr>
                      <a:r>
                        <a:rPr sz="1800" spc="-50" dirty="0">
                          <a:latin typeface="Consolas"/>
                          <a:cs typeface="Consolas"/>
                        </a:rPr>
                        <a:t>=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‘a’;</a:t>
                      </a:r>
                      <a:r>
                        <a:rPr sz="1800" spc="-5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//</a:t>
                      </a:r>
                      <a:r>
                        <a:rPr sz="1800" spc="-35" dirty="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5" dirty="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OK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3085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Tipagem</a:t>
            </a:r>
            <a:r>
              <a:rPr spc="-305" dirty="0"/>
              <a:t> </a:t>
            </a:r>
            <a:r>
              <a:rPr spc="-30" dirty="0"/>
              <a:t>de</a:t>
            </a:r>
            <a:r>
              <a:rPr spc="-250" dirty="0"/>
              <a:t> </a:t>
            </a:r>
            <a:r>
              <a:rPr spc="-125" dirty="0"/>
              <a:t>Dados</a:t>
            </a:r>
            <a:r>
              <a:rPr spc="-315" dirty="0"/>
              <a:t> </a:t>
            </a:r>
            <a:r>
              <a:rPr spc="-50" dirty="0"/>
              <a:t>C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93407" y="987552"/>
            <a:ext cx="313944" cy="32003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7675" y="1656029"/>
            <a:ext cx="9107805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Definir</a:t>
            </a:r>
            <a:r>
              <a:rPr sz="1800" spc="2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tipos</a:t>
            </a:r>
            <a:r>
              <a:rPr sz="1800" spc="19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é</a:t>
            </a:r>
            <a:r>
              <a:rPr sz="1800" spc="2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padronizar</a:t>
            </a:r>
            <a:r>
              <a:rPr sz="1800" spc="204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os</a:t>
            </a:r>
            <a:r>
              <a:rPr sz="1800" spc="2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dados</a:t>
            </a:r>
            <a:r>
              <a:rPr sz="1800" spc="204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para</a:t>
            </a:r>
            <a:r>
              <a:rPr sz="1800" spc="2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nós</a:t>
            </a:r>
            <a:r>
              <a:rPr sz="1800" spc="2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</a:t>
            </a:r>
            <a:r>
              <a:rPr sz="1800" spc="2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para</a:t>
            </a:r>
            <a:r>
              <a:rPr sz="1800" spc="19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</a:t>
            </a:r>
            <a:r>
              <a:rPr sz="1800" spc="204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processador/memória, </a:t>
            </a:r>
            <a:r>
              <a:rPr sz="1800" dirty="0">
                <a:latin typeface="Verdana"/>
                <a:cs typeface="Verdana"/>
              </a:rPr>
              <a:t>enquanto</a:t>
            </a:r>
            <a:r>
              <a:rPr sz="1800" spc="4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</a:t>
            </a:r>
            <a:r>
              <a:rPr sz="1800" spc="47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'let'</a:t>
            </a:r>
            <a:r>
              <a:rPr sz="1800" spc="4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garante</a:t>
            </a:r>
            <a:r>
              <a:rPr sz="1800" spc="4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sempre</a:t>
            </a:r>
            <a:r>
              <a:rPr sz="1800" spc="4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</a:t>
            </a:r>
            <a:r>
              <a:rPr sz="1800" spc="459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mesmo</a:t>
            </a:r>
            <a:r>
              <a:rPr sz="1800" spc="-60" dirty="0">
                <a:latin typeface="Verdana"/>
                <a:cs typeface="Verdana"/>
              </a:rPr>
              <a:t>  </a:t>
            </a:r>
            <a:r>
              <a:rPr sz="1800" dirty="0">
                <a:latin typeface="Verdana"/>
                <a:cs typeface="Verdana"/>
              </a:rPr>
              <a:t>tamanho</a:t>
            </a:r>
            <a:r>
              <a:rPr sz="1800" spc="4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</a:t>
            </a:r>
            <a:r>
              <a:rPr sz="1800" spc="4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alocação;</a:t>
            </a:r>
            <a:r>
              <a:rPr sz="1800" spc="459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tipando, </a:t>
            </a:r>
            <a:r>
              <a:rPr sz="1800" dirty="0">
                <a:latin typeface="Verdana"/>
                <a:cs typeface="Verdana"/>
              </a:rPr>
              <a:t>alcançamos uma</a:t>
            </a:r>
            <a:r>
              <a:rPr sz="1800" spc="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otimização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eficiente.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9716" y="3931920"/>
            <a:ext cx="158495" cy="16154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17675" y="3851529"/>
            <a:ext cx="203200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12445">
              <a:lnSpc>
                <a:spcPct val="100000"/>
              </a:lnSpc>
              <a:spcBef>
                <a:spcPts val="100"/>
              </a:spcBef>
              <a:tabLst>
                <a:tab pos="796925" algn="l"/>
              </a:tabLst>
            </a:pPr>
            <a:r>
              <a:rPr sz="1800" b="1" spc="-60" dirty="0">
                <a:latin typeface="Verdana"/>
                <a:cs typeface="Verdana"/>
              </a:rPr>
              <a:t>No</a:t>
            </a:r>
            <a:r>
              <a:rPr sz="1800" b="1" spc="-170" dirty="0">
                <a:latin typeface="Verdana"/>
                <a:cs typeface="Verdana"/>
              </a:rPr>
              <a:t> </a:t>
            </a:r>
            <a:r>
              <a:rPr sz="1800" b="1" spc="-50" dirty="0">
                <a:latin typeface="Verdana"/>
                <a:cs typeface="Verdana"/>
              </a:rPr>
              <a:t>C</a:t>
            </a:r>
            <a:r>
              <a:rPr sz="1800" b="1" dirty="0">
                <a:latin typeface="Verdana"/>
                <a:cs typeface="Verdana"/>
              </a:rPr>
              <a:t>	</a:t>
            </a:r>
            <a:r>
              <a:rPr sz="1800" b="1" spc="-25" dirty="0">
                <a:latin typeface="Verdana"/>
                <a:cs typeface="Verdana"/>
              </a:rPr>
              <a:t>por </a:t>
            </a:r>
            <a:r>
              <a:rPr sz="1800" b="1" spc="-10" dirty="0">
                <a:latin typeface="Verdana"/>
                <a:cs typeface="Verdana"/>
              </a:rPr>
              <a:t>exemplo... </a:t>
            </a:r>
            <a:r>
              <a:rPr sz="1800" dirty="0">
                <a:latin typeface="Verdana"/>
                <a:cs typeface="Verdana"/>
              </a:rPr>
              <a:t>int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455" dirty="0">
                <a:latin typeface="Verdana"/>
                <a:cs typeface="Verdana"/>
              </a:rPr>
              <a:t>=</a:t>
            </a:r>
            <a:r>
              <a:rPr sz="1800" spc="60" dirty="0">
                <a:latin typeface="Verdana"/>
                <a:cs typeface="Verdana"/>
              </a:rPr>
              <a:t>&gt;</a:t>
            </a:r>
            <a:r>
              <a:rPr sz="1800" spc="-165" dirty="0">
                <a:latin typeface="Verdana"/>
                <a:cs typeface="Verdana"/>
              </a:rPr>
              <a:t>3</a:t>
            </a:r>
            <a:r>
              <a:rPr sz="1800" spc="-170" dirty="0">
                <a:latin typeface="Verdana"/>
                <a:cs typeface="Verdana"/>
              </a:rPr>
              <a:t>2</a:t>
            </a:r>
            <a:r>
              <a:rPr sz="1800" spc="-160" dirty="0">
                <a:latin typeface="Verdana"/>
                <a:cs typeface="Verdana"/>
              </a:rPr>
              <a:t>-</a:t>
            </a:r>
            <a:r>
              <a:rPr sz="1800" spc="-25" dirty="0">
                <a:latin typeface="Verdana"/>
                <a:cs typeface="Verdana"/>
              </a:rPr>
              <a:t>bit </a:t>
            </a:r>
            <a:r>
              <a:rPr sz="1800" spc="-20" dirty="0">
                <a:latin typeface="Verdana"/>
                <a:cs typeface="Verdana"/>
              </a:rPr>
              <a:t>float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470" dirty="0">
                <a:latin typeface="Verdana"/>
                <a:cs typeface="Verdana"/>
              </a:rPr>
              <a:t>=</a:t>
            </a:r>
            <a:r>
              <a:rPr sz="1800" spc="30" dirty="0">
                <a:latin typeface="Verdana"/>
                <a:cs typeface="Verdana"/>
              </a:rPr>
              <a:t>&gt;</a:t>
            </a:r>
            <a:r>
              <a:rPr sz="1800" spc="-175" dirty="0">
                <a:latin typeface="Verdana"/>
                <a:cs typeface="Verdana"/>
              </a:rPr>
              <a:t>3</a:t>
            </a:r>
            <a:r>
              <a:rPr sz="1800" spc="-20" dirty="0">
                <a:latin typeface="Verdana"/>
                <a:cs typeface="Verdana"/>
              </a:rPr>
              <a:t>2</a:t>
            </a:r>
            <a:r>
              <a:rPr sz="1800" spc="-23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bit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double</a:t>
            </a:r>
            <a:r>
              <a:rPr sz="1800" spc="459" dirty="0">
                <a:latin typeface="Verdana"/>
                <a:cs typeface="Verdana"/>
              </a:rPr>
              <a:t> </a:t>
            </a:r>
            <a:r>
              <a:rPr sz="1800" spc="-470" dirty="0">
                <a:latin typeface="Verdana"/>
                <a:cs typeface="Verdana"/>
              </a:rPr>
              <a:t>=</a:t>
            </a:r>
            <a:r>
              <a:rPr sz="1800" spc="100" dirty="0">
                <a:latin typeface="Verdana"/>
                <a:cs typeface="Verdana"/>
              </a:rPr>
              <a:t>&gt;</a:t>
            </a:r>
            <a:r>
              <a:rPr sz="1800" spc="-55" dirty="0">
                <a:latin typeface="Verdana"/>
                <a:cs typeface="Verdana"/>
              </a:rPr>
              <a:t>6</a:t>
            </a:r>
            <a:r>
              <a:rPr sz="1800" spc="-20" dirty="0">
                <a:latin typeface="Verdana"/>
                <a:cs typeface="Verdana"/>
              </a:rPr>
              <a:t>4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bit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decimal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spc="-465" dirty="0">
                <a:latin typeface="Verdana"/>
                <a:cs typeface="Verdana"/>
              </a:rPr>
              <a:t>=</a:t>
            </a:r>
            <a:r>
              <a:rPr sz="1800" spc="105" dirty="0">
                <a:latin typeface="Verdana"/>
                <a:cs typeface="Verdana"/>
              </a:rPr>
              <a:t>&gt;</a:t>
            </a:r>
            <a:r>
              <a:rPr sz="1800" spc="-250" dirty="0">
                <a:latin typeface="Verdana"/>
                <a:cs typeface="Verdana"/>
              </a:rPr>
              <a:t>12</a:t>
            </a:r>
            <a:r>
              <a:rPr sz="1800" spc="-15" dirty="0">
                <a:latin typeface="Verdana"/>
                <a:cs typeface="Verdana"/>
              </a:rPr>
              <a:t>8</a:t>
            </a:r>
            <a:r>
              <a:rPr sz="1800" spc="-27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bit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3085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Tipagem</a:t>
            </a:r>
            <a:r>
              <a:rPr spc="-305" dirty="0"/>
              <a:t> </a:t>
            </a:r>
            <a:r>
              <a:rPr spc="-30" dirty="0"/>
              <a:t>de</a:t>
            </a:r>
            <a:r>
              <a:rPr spc="-250" dirty="0"/>
              <a:t> </a:t>
            </a:r>
            <a:r>
              <a:rPr spc="-125" dirty="0"/>
              <a:t>Dados</a:t>
            </a:r>
            <a:r>
              <a:rPr spc="-315" dirty="0"/>
              <a:t> </a:t>
            </a:r>
            <a:r>
              <a:rPr spc="-50" dirty="0"/>
              <a:t>C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93407" y="987552"/>
            <a:ext cx="313944" cy="32003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39740" y="2720339"/>
            <a:ext cx="4521708" cy="372008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3085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Tipos</a:t>
            </a:r>
            <a:r>
              <a:rPr spc="-355" dirty="0"/>
              <a:t> </a:t>
            </a:r>
            <a:r>
              <a:rPr spc="-155" dirty="0"/>
              <a:t>Primitivos</a:t>
            </a:r>
            <a:r>
              <a:rPr spc="-290" dirty="0"/>
              <a:t> </a:t>
            </a:r>
            <a:r>
              <a:rPr spc="-45" dirty="0"/>
              <a:t>em</a:t>
            </a:r>
            <a:r>
              <a:rPr spc="-225" dirty="0"/>
              <a:t> </a:t>
            </a:r>
            <a:r>
              <a:rPr spc="-50" dirty="0"/>
              <a:t>C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49440" y="987552"/>
            <a:ext cx="313944" cy="3200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56816" y="1566672"/>
            <a:ext cx="8264652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3085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Tipos</a:t>
            </a:r>
            <a:r>
              <a:rPr spc="-355" dirty="0"/>
              <a:t> </a:t>
            </a:r>
            <a:r>
              <a:rPr spc="-155" dirty="0"/>
              <a:t>Primitivos</a:t>
            </a:r>
            <a:r>
              <a:rPr spc="-290" dirty="0"/>
              <a:t> </a:t>
            </a:r>
            <a:r>
              <a:rPr spc="-45" dirty="0"/>
              <a:t>em</a:t>
            </a:r>
            <a:r>
              <a:rPr spc="-225" dirty="0"/>
              <a:t> </a:t>
            </a:r>
            <a:r>
              <a:rPr spc="-50" dirty="0"/>
              <a:t>C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49440" y="987552"/>
            <a:ext cx="313944" cy="3200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26564" y="1691639"/>
            <a:ext cx="8078723" cy="414985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7675" y="1622297"/>
            <a:ext cx="8729345" cy="42341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80" dirty="0">
                <a:latin typeface="Verdana"/>
                <a:cs typeface="Verdana"/>
              </a:rPr>
              <a:t>Números</a:t>
            </a:r>
            <a:r>
              <a:rPr sz="2000" b="1" spc="-204" dirty="0">
                <a:latin typeface="Verdana"/>
                <a:cs typeface="Verdana"/>
              </a:rPr>
              <a:t> </a:t>
            </a:r>
            <a:r>
              <a:rPr sz="2000" b="1" spc="-10" dirty="0">
                <a:latin typeface="Verdana"/>
                <a:cs typeface="Verdana"/>
              </a:rPr>
              <a:t>Inteiros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405"/>
              </a:spcBef>
            </a:pPr>
            <a:r>
              <a:rPr sz="1800" dirty="0">
                <a:latin typeface="Verdana"/>
                <a:cs typeface="Verdana"/>
              </a:rPr>
              <a:t>O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tipo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int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é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mais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70" dirty="0">
                <a:latin typeface="Verdana"/>
                <a:cs typeface="Verdana"/>
              </a:rPr>
              <a:t>comum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160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ser</a:t>
            </a:r>
            <a:r>
              <a:rPr sz="1800" spc="-15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encontrado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tabLst>
                <a:tab pos="2298700" algn="l"/>
              </a:tabLst>
            </a:pPr>
            <a:r>
              <a:rPr sz="1800" b="1" spc="-85" dirty="0">
                <a:latin typeface="Verdana"/>
                <a:cs typeface="Verdana"/>
              </a:rPr>
              <a:t>short</a:t>
            </a:r>
            <a:r>
              <a:rPr sz="1800" b="1" spc="-140" dirty="0">
                <a:latin typeface="Verdana"/>
                <a:cs typeface="Verdana"/>
              </a:rPr>
              <a:t> </a:t>
            </a:r>
            <a:r>
              <a:rPr sz="1800" b="1" spc="-305" dirty="0">
                <a:latin typeface="Verdana"/>
                <a:cs typeface="Verdana"/>
              </a:rPr>
              <a:t>(16-</a:t>
            </a:r>
            <a:r>
              <a:rPr sz="1800" b="1" spc="-20" dirty="0">
                <a:latin typeface="Verdana"/>
                <a:cs typeface="Verdana"/>
              </a:rPr>
              <a:t>bit)</a:t>
            </a:r>
            <a:r>
              <a:rPr sz="1800" b="1" dirty="0">
                <a:latin typeface="Verdana"/>
                <a:cs typeface="Verdana"/>
              </a:rPr>
              <a:t>	</a:t>
            </a:r>
            <a:r>
              <a:rPr sz="1800" spc="-135" dirty="0">
                <a:latin typeface="Verdana"/>
                <a:cs typeface="Verdana"/>
              </a:rPr>
              <a:t>-</a:t>
            </a:r>
            <a:r>
              <a:rPr sz="1800" spc="-125" dirty="0">
                <a:latin typeface="Verdana"/>
                <a:cs typeface="Verdana"/>
              </a:rPr>
              <a:t>32,768</a:t>
            </a:r>
            <a:r>
              <a:rPr sz="1800" spc="-2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32,767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tabLst>
                <a:tab pos="2326005" algn="l"/>
              </a:tabLst>
            </a:pPr>
            <a:r>
              <a:rPr sz="1800" b="1" spc="-85" dirty="0">
                <a:latin typeface="Verdana"/>
                <a:cs typeface="Verdana"/>
              </a:rPr>
              <a:t>ushort</a:t>
            </a:r>
            <a:r>
              <a:rPr sz="1800" b="1" spc="-100" dirty="0">
                <a:latin typeface="Verdana"/>
                <a:cs typeface="Verdana"/>
              </a:rPr>
              <a:t> </a:t>
            </a:r>
            <a:r>
              <a:rPr sz="1800" b="1" spc="-305" dirty="0">
                <a:latin typeface="Verdana"/>
                <a:cs typeface="Verdana"/>
              </a:rPr>
              <a:t>(16-</a:t>
            </a:r>
            <a:r>
              <a:rPr sz="1800" b="1" spc="-20" dirty="0">
                <a:latin typeface="Verdana"/>
                <a:cs typeface="Verdana"/>
              </a:rPr>
              <a:t>bit)</a:t>
            </a:r>
            <a:r>
              <a:rPr sz="1800" b="1" dirty="0">
                <a:latin typeface="Verdana"/>
                <a:cs typeface="Verdana"/>
              </a:rPr>
              <a:t>	</a:t>
            </a:r>
            <a:r>
              <a:rPr sz="1800" dirty="0">
                <a:latin typeface="Verdana"/>
                <a:cs typeface="Verdana"/>
              </a:rPr>
              <a:t>0</a:t>
            </a:r>
            <a:r>
              <a:rPr sz="1800" spc="-14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até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65.535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tabLst>
                <a:tab pos="2294255" algn="l"/>
              </a:tabLst>
            </a:pPr>
            <a:r>
              <a:rPr sz="1800" b="1" spc="-55" dirty="0">
                <a:latin typeface="Verdana"/>
                <a:cs typeface="Verdana"/>
              </a:rPr>
              <a:t>int</a:t>
            </a:r>
            <a:r>
              <a:rPr sz="1800" b="1" spc="-75" dirty="0">
                <a:latin typeface="Verdana"/>
                <a:cs typeface="Verdana"/>
              </a:rPr>
              <a:t> </a:t>
            </a:r>
            <a:r>
              <a:rPr sz="1800" b="1" spc="-250" dirty="0">
                <a:latin typeface="Verdana"/>
                <a:cs typeface="Verdana"/>
              </a:rPr>
              <a:t>(32-</a:t>
            </a:r>
            <a:r>
              <a:rPr sz="1800" b="1" spc="-20" dirty="0">
                <a:latin typeface="Verdana"/>
                <a:cs typeface="Verdana"/>
              </a:rPr>
              <a:t>bit)</a:t>
            </a:r>
            <a:r>
              <a:rPr sz="1800" b="1" dirty="0">
                <a:latin typeface="Verdana"/>
                <a:cs typeface="Verdana"/>
              </a:rPr>
              <a:t>	</a:t>
            </a:r>
            <a:r>
              <a:rPr sz="1800" spc="-135" dirty="0">
                <a:latin typeface="Verdana"/>
                <a:cs typeface="Verdana"/>
              </a:rPr>
              <a:t>-</a:t>
            </a:r>
            <a:r>
              <a:rPr sz="1800" spc="-145" dirty="0">
                <a:latin typeface="Verdana"/>
                <a:cs typeface="Verdana"/>
              </a:rPr>
              <a:t>2,147,483,648</a:t>
            </a:r>
            <a:r>
              <a:rPr sz="1800" spc="-1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até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2,147,483,647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tabLst>
                <a:tab pos="2321560" algn="l"/>
              </a:tabLst>
            </a:pPr>
            <a:r>
              <a:rPr sz="1800" b="1" spc="-55" dirty="0">
                <a:latin typeface="Verdana"/>
                <a:cs typeface="Verdana"/>
              </a:rPr>
              <a:t>uint</a:t>
            </a:r>
            <a:r>
              <a:rPr sz="1800" b="1" spc="-95" dirty="0">
                <a:latin typeface="Verdana"/>
                <a:cs typeface="Verdana"/>
              </a:rPr>
              <a:t> </a:t>
            </a:r>
            <a:r>
              <a:rPr sz="1800" b="1" spc="-250" dirty="0">
                <a:latin typeface="Verdana"/>
                <a:cs typeface="Verdana"/>
              </a:rPr>
              <a:t>(32-</a:t>
            </a:r>
            <a:r>
              <a:rPr sz="1800" b="1" spc="-20" dirty="0">
                <a:latin typeface="Verdana"/>
                <a:cs typeface="Verdana"/>
              </a:rPr>
              <a:t>bit)</a:t>
            </a:r>
            <a:r>
              <a:rPr sz="1800" b="1" dirty="0">
                <a:latin typeface="Verdana"/>
                <a:cs typeface="Verdana"/>
              </a:rPr>
              <a:t>	</a:t>
            </a:r>
            <a:r>
              <a:rPr sz="1800" dirty="0">
                <a:latin typeface="Verdana"/>
                <a:cs typeface="Verdana"/>
              </a:rPr>
              <a:t>0</a:t>
            </a:r>
            <a:r>
              <a:rPr sz="1800" spc="-14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até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4,294,967,295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tabLst>
                <a:tab pos="2341245" algn="l"/>
              </a:tabLst>
            </a:pPr>
            <a:r>
              <a:rPr sz="1800" b="1" spc="-55" dirty="0">
                <a:latin typeface="Verdana"/>
                <a:cs typeface="Verdana"/>
              </a:rPr>
              <a:t>long </a:t>
            </a:r>
            <a:r>
              <a:rPr sz="1800" b="1" spc="-190" dirty="0">
                <a:latin typeface="Verdana"/>
                <a:cs typeface="Verdana"/>
              </a:rPr>
              <a:t>(64-</a:t>
            </a:r>
            <a:r>
              <a:rPr sz="1800" b="1" spc="-20" dirty="0">
                <a:latin typeface="Verdana"/>
                <a:cs typeface="Verdana"/>
              </a:rPr>
              <a:t>bit)</a:t>
            </a:r>
            <a:r>
              <a:rPr sz="1800" b="1" dirty="0">
                <a:latin typeface="Verdana"/>
                <a:cs typeface="Verdana"/>
              </a:rPr>
              <a:t>	</a:t>
            </a:r>
            <a:r>
              <a:rPr sz="1800" spc="-135" dirty="0">
                <a:latin typeface="Verdana"/>
                <a:cs typeface="Verdana"/>
              </a:rPr>
              <a:t>-</a:t>
            </a:r>
            <a:r>
              <a:rPr sz="1800" spc="-140" dirty="0">
                <a:latin typeface="Verdana"/>
                <a:cs typeface="Verdana"/>
              </a:rPr>
              <a:t>9,223,372,036,854,775,808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até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5" dirty="0">
                <a:latin typeface="Verdana"/>
                <a:cs typeface="Verdana"/>
              </a:rPr>
              <a:t>9,223,372,036,854,775,807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tabLst>
                <a:tab pos="2368550" algn="l"/>
              </a:tabLst>
            </a:pPr>
            <a:r>
              <a:rPr sz="1800" b="1" spc="-60" dirty="0">
                <a:latin typeface="Verdana"/>
                <a:cs typeface="Verdana"/>
              </a:rPr>
              <a:t>ulong</a:t>
            </a:r>
            <a:r>
              <a:rPr sz="1800" b="1" spc="-30" dirty="0">
                <a:latin typeface="Verdana"/>
                <a:cs typeface="Verdana"/>
              </a:rPr>
              <a:t> </a:t>
            </a:r>
            <a:r>
              <a:rPr sz="1800" b="1" spc="-190" dirty="0">
                <a:latin typeface="Verdana"/>
                <a:cs typeface="Verdana"/>
              </a:rPr>
              <a:t>(64-</a:t>
            </a:r>
            <a:r>
              <a:rPr sz="1800" b="1" spc="-20" dirty="0">
                <a:latin typeface="Verdana"/>
                <a:cs typeface="Verdana"/>
              </a:rPr>
              <a:t>bit)</a:t>
            </a:r>
            <a:r>
              <a:rPr sz="1800" b="1" dirty="0">
                <a:latin typeface="Verdana"/>
                <a:cs typeface="Verdana"/>
              </a:rPr>
              <a:t>	</a:t>
            </a:r>
            <a:r>
              <a:rPr sz="1800" spc="-20" dirty="0">
                <a:latin typeface="Verdana"/>
                <a:cs typeface="Verdana"/>
              </a:rPr>
              <a:t>0</a:t>
            </a:r>
            <a:r>
              <a:rPr sz="1800" spc="-15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até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90" dirty="0">
                <a:latin typeface="Verdana"/>
                <a:cs typeface="Verdana"/>
              </a:rPr>
              <a:t>18,446,744,073,709,551,615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3085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Tipos</a:t>
            </a:r>
            <a:r>
              <a:rPr spc="-355" dirty="0"/>
              <a:t> </a:t>
            </a:r>
            <a:r>
              <a:rPr spc="-155" dirty="0"/>
              <a:t>Primitivos</a:t>
            </a:r>
            <a:r>
              <a:rPr spc="-290" dirty="0"/>
              <a:t> </a:t>
            </a:r>
            <a:r>
              <a:rPr spc="-45" dirty="0"/>
              <a:t>em</a:t>
            </a:r>
            <a:r>
              <a:rPr spc="-225" dirty="0"/>
              <a:t> </a:t>
            </a:r>
            <a:r>
              <a:rPr spc="-50" dirty="0"/>
              <a:t>C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49440" y="987552"/>
            <a:ext cx="313944" cy="32003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7675" y="1622297"/>
            <a:ext cx="7722870" cy="2012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80" dirty="0">
                <a:latin typeface="Verdana"/>
                <a:cs typeface="Verdana"/>
              </a:rPr>
              <a:t>Números</a:t>
            </a:r>
            <a:r>
              <a:rPr sz="2000" b="1" spc="-204" dirty="0">
                <a:latin typeface="Verdana"/>
                <a:cs typeface="Verdana"/>
              </a:rPr>
              <a:t> </a:t>
            </a:r>
            <a:r>
              <a:rPr sz="2000" b="1" spc="-20" dirty="0">
                <a:latin typeface="Verdana"/>
                <a:cs typeface="Verdana"/>
              </a:rPr>
              <a:t>Reais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405"/>
              </a:spcBef>
            </a:pPr>
            <a:r>
              <a:rPr sz="1800" dirty="0">
                <a:latin typeface="Verdana"/>
                <a:cs typeface="Verdana"/>
              </a:rPr>
              <a:t>Números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que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exigem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uma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maior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precisam,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ou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spc="-100" dirty="0">
                <a:latin typeface="Verdana"/>
                <a:cs typeface="Verdana"/>
              </a:rPr>
              <a:t>seja,</a:t>
            </a:r>
            <a:r>
              <a:rPr sz="1800" spc="-204" dirty="0">
                <a:latin typeface="Verdana"/>
                <a:cs typeface="Verdana"/>
              </a:rPr>
              <a:t> </a:t>
            </a:r>
            <a:r>
              <a:rPr sz="1800" spc="50" dirty="0">
                <a:latin typeface="Verdana"/>
                <a:cs typeface="Verdana"/>
              </a:rPr>
              <a:t>com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pontuação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b="1" spc="-85" dirty="0">
                <a:latin typeface="Verdana"/>
                <a:cs typeface="Verdana"/>
              </a:rPr>
              <a:t>float</a:t>
            </a:r>
            <a:r>
              <a:rPr sz="1800" b="1" spc="-13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(Notação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F)</a:t>
            </a:r>
            <a:endParaRPr sz="18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b="1" spc="-10" dirty="0">
                <a:latin typeface="Verdana"/>
                <a:cs typeface="Verdana"/>
              </a:rPr>
              <a:t>double</a:t>
            </a:r>
            <a:endParaRPr sz="18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b="1" spc="-65" dirty="0">
                <a:latin typeface="Verdana"/>
                <a:cs typeface="Verdana"/>
              </a:rPr>
              <a:t>decimal</a:t>
            </a:r>
            <a:r>
              <a:rPr sz="1800" b="1" spc="-1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(Notação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M)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48164" y="3890264"/>
            <a:ext cx="856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uso</a:t>
            </a:r>
            <a:r>
              <a:rPr sz="1800" spc="47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do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17675" y="3890264"/>
            <a:ext cx="80568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Possuem</a:t>
            </a:r>
            <a:r>
              <a:rPr sz="1800" spc="-50" dirty="0">
                <a:latin typeface="Verdana"/>
                <a:cs typeface="Verdana"/>
              </a:rPr>
              <a:t>  </a:t>
            </a:r>
            <a:r>
              <a:rPr sz="1800" dirty="0">
                <a:latin typeface="Verdana"/>
                <a:cs typeface="Verdana"/>
              </a:rPr>
              <a:t>assimilação</a:t>
            </a:r>
            <a:r>
              <a:rPr sz="1800" spc="-70" dirty="0">
                <a:latin typeface="Verdana"/>
                <a:cs typeface="Verdana"/>
              </a:rPr>
              <a:t>  </a:t>
            </a:r>
            <a:r>
              <a:rPr sz="1800" dirty="0">
                <a:latin typeface="Verdana"/>
                <a:cs typeface="Verdana"/>
              </a:rPr>
              <a:t>negativa</a:t>
            </a:r>
            <a:r>
              <a:rPr sz="1800" spc="-55" dirty="0">
                <a:latin typeface="Verdana"/>
                <a:cs typeface="Verdana"/>
              </a:rPr>
              <a:t>  </a:t>
            </a:r>
            <a:r>
              <a:rPr sz="1800" dirty="0">
                <a:latin typeface="Verdana"/>
                <a:cs typeface="Verdana"/>
              </a:rPr>
              <a:t>e</a:t>
            </a:r>
            <a:r>
              <a:rPr sz="1800" spc="4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positiva</a:t>
            </a:r>
            <a:r>
              <a:rPr sz="1800" spc="4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por</a:t>
            </a:r>
            <a:r>
              <a:rPr sz="1800" spc="-65" dirty="0">
                <a:latin typeface="Verdana"/>
                <a:cs typeface="Verdana"/>
              </a:rPr>
              <a:t>  </a:t>
            </a:r>
            <a:r>
              <a:rPr sz="1800" dirty="0">
                <a:latin typeface="Verdana"/>
                <a:cs typeface="Verdana"/>
              </a:rPr>
              <a:t>padrão,</a:t>
            </a:r>
            <a:r>
              <a:rPr sz="1800" spc="36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dispensando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signed/unsigned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em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seus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tipos.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17675" y="4704333"/>
            <a:ext cx="201104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85" dirty="0">
                <a:latin typeface="Verdana"/>
                <a:cs typeface="Verdana"/>
              </a:rPr>
              <a:t>float</a:t>
            </a:r>
            <a:r>
              <a:rPr sz="1800" b="1" spc="-35" dirty="0">
                <a:latin typeface="Verdana"/>
                <a:cs typeface="Verdana"/>
              </a:rPr>
              <a:t> </a:t>
            </a:r>
            <a:r>
              <a:rPr sz="1800" b="1" spc="-250" dirty="0">
                <a:latin typeface="Verdana"/>
                <a:cs typeface="Verdana"/>
              </a:rPr>
              <a:t>(32-</a:t>
            </a:r>
            <a:r>
              <a:rPr sz="1800" b="1" spc="-20" dirty="0">
                <a:latin typeface="Verdana"/>
                <a:cs typeface="Verdana"/>
              </a:rPr>
              <a:t>bit) </a:t>
            </a:r>
            <a:r>
              <a:rPr sz="1800" b="1" spc="-70" dirty="0">
                <a:latin typeface="Verdana"/>
                <a:cs typeface="Verdana"/>
              </a:rPr>
              <a:t>double</a:t>
            </a:r>
            <a:r>
              <a:rPr sz="1800" b="1" spc="-20" dirty="0">
                <a:latin typeface="Verdana"/>
                <a:cs typeface="Verdana"/>
              </a:rPr>
              <a:t> </a:t>
            </a:r>
            <a:r>
              <a:rPr sz="1800" b="1" spc="-190" dirty="0">
                <a:latin typeface="Verdana"/>
                <a:cs typeface="Verdana"/>
              </a:rPr>
              <a:t>(64-</a:t>
            </a:r>
            <a:r>
              <a:rPr sz="1800" b="1" spc="-20" dirty="0">
                <a:latin typeface="Verdana"/>
                <a:cs typeface="Verdana"/>
              </a:rPr>
              <a:t>bit) </a:t>
            </a:r>
            <a:r>
              <a:rPr sz="1800" b="1" spc="-60" dirty="0">
                <a:latin typeface="Verdana"/>
                <a:cs typeface="Verdana"/>
              </a:rPr>
              <a:t>decimal</a:t>
            </a:r>
            <a:r>
              <a:rPr sz="1800" b="1" spc="-110" dirty="0">
                <a:latin typeface="Verdana"/>
                <a:cs typeface="Verdana"/>
              </a:rPr>
              <a:t> </a:t>
            </a:r>
            <a:r>
              <a:rPr sz="1800" b="1" spc="-280" dirty="0">
                <a:latin typeface="Verdana"/>
                <a:cs typeface="Verdana"/>
              </a:rPr>
              <a:t>(128-</a:t>
            </a:r>
            <a:r>
              <a:rPr sz="1800" b="1" spc="-75" dirty="0">
                <a:latin typeface="Verdana"/>
                <a:cs typeface="Verdana"/>
              </a:rPr>
              <a:t>bit)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11573" y="4704333"/>
            <a:ext cx="576516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00"/>
              </a:spcBef>
            </a:pPr>
            <a:r>
              <a:rPr sz="1800" spc="-135" dirty="0">
                <a:latin typeface="Verdana"/>
                <a:cs typeface="Verdana"/>
              </a:rPr>
              <a:t>-</a:t>
            </a:r>
            <a:r>
              <a:rPr sz="1800" spc="-100" dirty="0">
                <a:latin typeface="Verdana"/>
                <a:cs typeface="Verdana"/>
              </a:rPr>
              <a:t>3.402823e38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até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3.402823e38</a:t>
            </a:r>
            <a:endParaRPr sz="1800">
              <a:latin typeface="Verdana"/>
              <a:cs typeface="Verdana"/>
            </a:endParaRPr>
          </a:p>
          <a:p>
            <a:pPr marL="80645">
              <a:lnSpc>
                <a:spcPct val="100000"/>
              </a:lnSpc>
            </a:pPr>
            <a:r>
              <a:rPr sz="1800" spc="-135" dirty="0">
                <a:latin typeface="Verdana"/>
                <a:cs typeface="Verdana"/>
              </a:rPr>
              <a:t>-</a:t>
            </a:r>
            <a:r>
              <a:rPr sz="1800" spc="-145" dirty="0">
                <a:latin typeface="Verdana"/>
                <a:cs typeface="Verdana"/>
              </a:rPr>
              <a:t>1.79769313486232e308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até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spc="-105" dirty="0">
                <a:latin typeface="Verdana"/>
                <a:cs typeface="Verdana"/>
              </a:rPr>
              <a:t>1.79769313486232e308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spc="-35" dirty="0">
                <a:latin typeface="Verdana"/>
                <a:cs typeface="Verdana"/>
              </a:rPr>
              <a:t>(+ou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spc="-135" dirty="0">
                <a:latin typeface="Verdana"/>
                <a:cs typeface="Verdana"/>
              </a:rPr>
              <a:t>-</a:t>
            </a:r>
            <a:r>
              <a:rPr sz="1800" spc="-204" dirty="0">
                <a:latin typeface="Verdana"/>
                <a:cs typeface="Verdana"/>
              </a:rPr>
              <a:t>)1.0</a:t>
            </a:r>
            <a:r>
              <a:rPr sz="1800" spc="-4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x</a:t>
            </a:r>
            <a:r>
              <a:rPr sz="1800" spc="-240" dirty="0">
                <a:latin typeface="Verdana"/>
                <a:cs typeface="Verdana"/>
              </a:rPr>
              <a:t> </a:t>
            </a:r>
            <a:r>
              <a:rPr sz="1800" spc="-180" dirty="0">
                <a:latin typeface="Verdana"/>
                <a:cs typeface="Verdana"/>
              </a:rPr>
              <a:t>10e-</a:t>
            </a:r>
            <a:r>
              <a:rPr sz="1800" spc="-60" dirty="0">
                <a:latin typeface="Verdana"/>
                <a:cs typeface="Verdana"/>
              </a:rPr>
              <a:t>28</a:t>
            </a:r>
            <a:r>
              <a:rPr sz="1800" spc="-15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até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110" dirty="0">
                <a:latin typeface="Verdana"/>
                <a:cs typeface="Verdana"/>
              </a:rPr>
              <a:t>7.9</a:t>
            </a:r>
            <a:r>
              <a:rPr sz="1800" spc="-2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x</a:t>
            </a:r>
            <a:r>
              <a:rPr sz="1800" spc="-2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10e28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3085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Tipos</a:t>
            </a:r>
            <a:r>
              <a:rPr spc="-355" dirty="0"/>
              <a:t> </a:t>
            </a:r>
            <a:r>
              <a:rPr spc="-155" dirty="0"/>
              <a:t>Primitivos</a:t>
            </a:r>
            <a:r>
              <a:rPr spc="-290" dirty="0"/>
              <a:t> </a:t>
            </a:r>
            <a:r>
              <a:rPr spc="-45" dirty="0"/>
              <a:t>em</a:t>
            </a:r>
            <a:r>
              <a:rPr spc="-225" dirty="0"/>
              <a:t> </a:t>
            </a:r>
            <a:r>
              <a:rPr spc="-50" dirty="0"/>
              <a:t>C</a:t>
            </a: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49440" y="987552"/>
            <a:ext cx="313944" cy="32003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7675" y="1622297"/>
            <a:ext cx="9110345" cy="40252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0" dirty="0">
                <a:latin typeface="Verdana"/>
                <a:cs typeface="Verdana"/>
              </a:rPr>
              <a:t>Bool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405"/>
              </a:spcBef>
            </a:pPr>
            <a:r>
              <a:rPr sz="1800" dirty="0">
                <a:latin typeface="Verdana"/>
                <a:cs typeface="Verdana"/>
              </a:rPr>
              <a:t>Tipo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booliano,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armazena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apenas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true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ou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40" dirty="0">
                <a:latin typeface="Verdana"/>
                <a:cs typeface="Verdana"/>
              </a:rPr>
              <a:t>false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(Verdadeiro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ou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Falso)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Definido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pela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palavra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-35" dirty="0">
                <a:latin typeface="Verdana"/>
                <a:cs typeface="Verdana"/>
              </a:rPr>
              <a:t>reservada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bool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tabLst>
                <a:tab pos="1841500" algn="l"/>
              </a:tabLst>
            </a:pPr>
            <a:r>
              <a:rPr sz="1800" b="1" spc="-75" dirty="0">
                <a:latin typeface="Verdana"/>
                <a:cs typeface="Verdana"/>
              </a:rPr>
              <a:t>bool </a:t>
            </a:r>
            <a:r>
              <a:rPr sz="1800" b="1" spc="-210" dirty="0">
                <a:latin typeface="Verdana"/>
                <a:cs typeface="Verdana"/>
              </a:rPr>
              <a:t>(8-</a:t>
            </a:r>
            <a:r>
              <a:rPr sz="1800" b="1" spc="-20" dirty="0">
                <a:latin typeface="Verdana"/>
                <a:cs typeface="Verdana"/>
              </a:rPr>
              <a:t>bit)</a:t>
            </a:r>
            <a:r>
              <a:rPr sz="1800" b="1" dirty="0">
                <a:latin typeface="Verdana"/>
                <a:cs typeface="Verdana"/>
              </a:rPr>
              <a:t>	</a:t>
            </a:r>
            <a:r>
              <a:rPr sz="1800" dirty="0">
                <a:latin typeface="Verdana"/>
                <a:cs typeface="Verdana"/>
              </a:rPr>
              <a:t>true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ou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false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000" b="1" spc="-20" dirty="0">
                <a:latin typeface="Verdana"/>
                <a:cs typeface="Verdana"/>
              </a:rPr>
              <a:t>Char</a:t>
            </a:r>
            <a:endParaRPr sz="2000">
              <a:latin typeface="Verdana"/>
              <a:cs typeface="Verdana"/>
            </a:endParaRPr>
          </a:p>
          <a:p>
            <a:pPr marL="12700" marR="5080" algn="just">
              <a:lnSpc>
                <a:spcPct val="100000"/>
              </a:lnSpc>
              <a:spcBef>
                <a:spcPts val="2405"/>
              </a:spcBef>
            </a:pPr>
            <a:r>
              <a:rPr sz="1800" dirty="0">
                <a:latin typeface="Verdana"/>
                <a:cs typeface="Verdana"/>
              </a:rPr>
              <a:t>Utilizado</a:t>
            </a:r>
            <a:r>
              <a:rPr sz="1800" spc="2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para</a:t>
            </a:r>
            <a:r>
              <a:rPr sz="1800" spc="229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armazenar</a:t>
            </a:r>
            <a:r>
              <a:rPr sz="1800" spc="2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apenas</a:t>
            </a:r>
            <a:r>
              <a:rPr sz="1800" spc="229" dirty="0">
                <a:latin typeface="Verdana"/>
                <a:cs typeface="Verdana"/>
              </a:rPr>
              <a:t> </a:t>
            </a:r>
            <a:r>
              <a:rPr sz="1800" spc="50" dirty="0">
                <a:latin typeface="Verdana"/>
                <a:cs typeface="Verdana"/>
              </a:rPr>
              <a:t>um</a:t>
            </a:r>
            <a:r>
              <a:rPr sz="1800" spc="3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caractere</a:t>
            </a:r>
            <a:r>
              <a:rPr sz="1800" spc="2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no</a:t>
            </a:r>
            <a:r>
              <a:rPr sz="1800" spc="27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formato</a:t>
            </a:r>
            <a:r>
              <a:rPr sz="1800" spc="2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Unicode</a:t>
            </a:r>
            <a:r>
              <a:rPr sz="1800" spc="28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Definido </a:t>
            </a:r>
            <a:r>
              <a:rPr sz="1800" dirty="0">
                <a:latin typeface="Verdana"/>
                <a:cs typeface="Verdana"/>
              </a:rPr>
              <a:t>pela</a:t>
            </a:r>
            <a:r>
              <a:rPr sz="1800" spc="1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palavra</a:t>
            </a:r>
            <a:r>
              <a:rPr sz="1800" spc="1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reservada</a:t>
            </a:r>
            <a:r>
              <a:rPr sz="1800" spc="1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char,</a:t>
            </a:r>
            <a:r>
              <a:rPr sz="1800" spc="1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1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atribuição</a:t>
            </a:r>
            <a:r>
              <a:rPr sz="1800" spc="1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</a:t>
            </a:r>
            <a:r>
              <a:rPr sz="1800" spc="130" dirty="0">
                <a:latin typeface="Verdana"/>
                <a:cs typeface="Verdana"/>
              </a:rPr>
              <a:t> </a:t>
            </a:r>
            <a:r>
              <a:rPr sz="1800" spc="60" dirty="0">
                <a:latin typeface="Verdana"/>
                <a:cs typeface="Verdana"/>
              </a:rPr>
              <a:t>um</a:t>
            </a:r>
            <a:r>
              <a:rPr sz="1800" spc="2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valor</a:t>
            </a:r>
            <a:r>
              <a:rPr sz="1800" spc="1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char</a:t>
            </a:r>
            <a:r>
              <a:rPr sz="1800" spc="114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é</a:t>
            </a:r>
            <a:r>
              <a:rPr sz="1800" spc="1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dada</a:t>
            </a:r>
            <a:r>
              <a:rPr sz="1800" spc="1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por</a:t>
            </a:r>
            <a:r>
              <a:rPr sz="1800" spc="1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aspas </a:t>
            </a:r>
            <a:r>
              <a:rPr sz="1800" dirty="0">
                <a:latin typeface="Verdana"/>
                <a:cs typeface="Verdana"/>
              </a:rPr>
              <a:t>simples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‘’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>
              <a:latin typeface="Verdana"/>
              <a:cs typeface="Verdana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800" b="1" spc="-70" dirty="0">
                <a:latin typeface="Verdana"/>
                <a:cs typeface="Verdana"/>
              </a:rPr>
              <a:t>char</a:t>
            </a:r>
            <a:r>
              <a:rPr sz="1800" b="1" spc="-180" dirty="0">
                <a:latin typeface="Verdana"/>
                <a:cs typeface="Verdana"/>
              </a:rPr>
              <a:t> </a:t>
            </a:r>
            <a:r>
              <a:rPr sz="1800" b="1" spc="-305" dirty="0">
                <a:latin typeface="Verdana"/>
                <a:cs typeface="Verdana"/>
              </a:rPr>
              <a:t>(16-</a:t>
            </a:r>
            <a:r>
              <a:rPr sz="1800" b="1" dirty="0">
                <a:latin typeface="Verdana"/>
                <a:cs typeface="Verdana"/>
              </a:rPr>
              <a:t>bit)</a:t>
            </a:r>
            <a:r>
              <a:rPr sz="1800" b="1" spc="400" dirty="0">
                <a:latin typeface="Verdana"/>
                <a:cs typeface="Verdana"/>
              </a:rPr>
              <a:t>   </a:t>
            </a:r>
            <a:r>
              <a:rPr sz="1800" spc="-10" dirty="0">
                <a:latin typeface="Verdana"/>
                <a:cs typeface="Verdana"/>
              </a:rPr>
              <a:t>Qualquer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caractere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3085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Tipos</a:t>
            </a:r>
            <a:r>
              <a:rPr spc="-355" dirty="0"/>
              <a:t> </a:t>
            </a:r>
            <a:r>
              <a:rPr spc="-155" dirty="0"/>
              <a:t>Primitivos</a:t>
            </a:r>
            <a:r>
              <a:rPr spc="-290" dirty="0"/>
              <a:t> </a:t>
            </a:r>
            <a:r>
              <a:rPr spc="-45" dirty="0"/>
              <a:t>em</a:t>
            </a:r>
            <a:r>
              <a:rPr spc="-225" dirty="0"/>
              <a:t> </a:t>
            </a:r>
            <a:r>
              <a:rPr spc="-50" dirty="0"/>
              <a:t>C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49440" y="987552"/>
            <a:ext cx="313944" cy="32003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7675" y="1622297"/>
            <a:ext cx="9047480" cy="347217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Verdana"/>
                <a:cs typeface="Verdana"/>
              </a:rPr>
              <a:t>String</a:t>
            </a:r>
            <a:endParaRPr sz="20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2405"/>
              </a:spcBef>
            </a:pPr>
            <a:r>
              <a:rPr sz="1800" dirty="0">
                <a:latin typeface="Verdana"/>
                <a:cs typeface="Verdana"/>
              </a:rPr>
              <a:t>Armazena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50" dirty="0">
                <a:latin typeface="Verdana"/>
                <a:cs typeface="Verdana"/>
              </a:rPr>
              <a:t>uma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cadeia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30" dirty="0">
                <a:latin typeface="Verdana"/>
                <a:cs typeface="Verdana"/>
              </a:rPr>
              <a:t>caracteres,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podemos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pensar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nele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50" dirty="0">
                <a:latin typeface="Verdana"/>
                <a:cs typeface="Verdana"/>
              </a:rPr>
              <a:t>como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45" dirty="0">
                <a:latin typeface="Verdana"/>
                <a:cs typeface="Verdana"/>
              </a:rPr>
              <a:t>uma</a:t>
            </a:r>
            <a:r>
              <a:rPr sz="1800" dirty="0">
                <a:latin typeface="Verdana"/>
                <a:cs typeface="Verdana"/>
              </a:rPr>
              <a:t> lista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de </a:t>
            </a:r>
            <a:r>
              <a:rPr sz="1800" spc="-45" dirty="0">
                <a:latin typeface="Verdana"/>
                <a:cs typeface="Verdana"/>
              </a:rPr>
              <a:t>char,</a:t>
            </a:r>
            <a:r>
              <a:rPr sz="1800" spc="-1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definido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pela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palavra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35" dirty="0">
                <a:latin typeface="Verdana"/>
                <a:cs typeface="Verdana"/>
              </a:rPr>
              <a:t>reservada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string.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A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atribuição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50" dirty="0">
                <a:latin typeface="Verdana"/>
                <a:cs typeface="Verdana"/>
              </a:rPr>
              <a:t>um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35" dirty="0">
                <a:latin typeface="Verdana"/>
                <a:cs typeface="Verdana"/>
              </a:rPr>
              <a:t>valor</a:t>
            </a:r>
            <a:r>
              <a:rPr sz="1800" spc="-1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string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é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dada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por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aspas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duplas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“”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Verdana"/>
                <a:cs typeface="Verdana"/>
              </a:rPr>
              <a:t>string</a:t>
            </a:r>
            <a:r>
              <a:rPr sz="1800" b="1" spc="25" dirty="0">
                <a:latin typeface="Verdana"/>
                <a:cs typeface="Verdana"/>
              </a:rPr>
              <a:t>  </a:t>
            </a:r>
            <a:r>
              <a:rPr sz="1800" dirty="0">
                <a:latin typeface="Verdana"/>
                <a:cs typeface="Verdana"/>
              </a:rPr>
              <a:t>uma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cadeia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caracteres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000" b="1" spc="-25" dirty="0">
                <a:latin typeface="Verdana"/>
                <a:cs typeface="Verdana"/>
              </a:rPr>
              <a:t>Var</a:t>
            </a:r>
            <a:endParaRPr sz="2000">
              <a:latin typeface="Verdana"/>
              <a:cs typeface="Verdana"/>
            </a:endParaRPr>
          </a:p>
          <a:p>
            <a:pPr marL="12700" marR="1206500">
              <a:lnSpc>
                <a:spcPct val="100000"/>
              </a:lnSpc>
              <a:spcBef>
                <a:spcPts val="2410"/>
              </a:spcBef>
            </a:pPr>
            <a:r>
              <a:rPr sz="1800" spc="-10" dirty="0">
                <a:latin typeface="Verdana"/>
                <a:cs typeface="Verdana"/>
              </a:rPr>
              <a:t>Substitui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nome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50" dirty="0">
                <a:latin typeface="Verdana"/>
                <a:cs typeface="Verdana"/>
              </a:rPr>
              <a:t>um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tipo,</a:t>
            </a:r>
            <a:r>
              <a:rPr sz="1800" spc="-145" dirty="0">
                <a:latin typeface="Verdana"/>
                <a:cs typeface="Verdana"/>
              </a:rPr>
              <a:t> </a:t>
            </a:r>
            <a:r>
              <a:rPr sz="1800" spc="-35" dirty="0">
                <a:latin typeface="Verdana"/>
                <a:cs typeface="Verdana"/>
              </a:rPr>
              <a:t>será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do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tipo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do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primeiro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spc="-30" dirty="0">
                <a:latin typeface="Verdana"/>
                <a:cs typeface="Verdana"/>
              </a:rPr>
              <a:t>valor</a:t>
            </a:r>
            <a:r>
              <a:rPr sz="1800" spc="-14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atribuído </a:t>
            </a:r>
            <a:r>
              <a:rPr sz="1800" dirty="0">
                <a:latin typeface="Verdana"/>
                <a:cs typeface="Verdana"/>
              </a:rPr>
              <a:t>Recomendado</a:t>
            </a:r>
            <a:r>
              <a:rPr sz="1800" spc="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uso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deixe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para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usar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var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quando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40" dirty="0">
                <a:latin typeface="Verdana"/>
                <a:cs typeface="Verdana"/>
              </a:rPr>
              <a:t>já</a:t>
            </a:r>
            <a:r>
              <a:rPr sz="1800" spc="-1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dominar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os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tipos.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17675" y="5331078"/>
            <a:ext cx="23920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nsolas"/>
                <a:cs typeface="Consolas"/>
              </a:rPr>
              <a:t>var</a:t>
            </a:r>
            <a:r>
              <a:rPr sz="1800" b="1" spc="-5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idade</a:t>
            </a:r>
            <a:r>
              <a:rPr sz="1800" spc="-3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=</a:t>
            </a:r>
            <a:r>
              <a:rPr sz="1800" spc="-35" dirty="0">
                <a:latin typeface="Consolas"/>
                <a:cs typeface="Consolas"/>
              </a:rPr>
              <a:t> </a:t>
            </a:r>
            <a:r>
              <a:rPr sz="1800" spc="-25" dirty="0">
                <a:latin typeface="Consolas"/>
                <a:cs typeface="Consolas"/>
              </a:rPr>
              <a:t>25</a:t>
            </a:r>
            <a:r>
              <a:rPr sz="1800" b="1" spc="-25" dirty="0">
                <a:latin typeface="Consolas"/>
                <a:cs typeface="Consolas"/>
              </a:rPr>
              <a:t>;</a:t>
            </a:r>
            <a:r>
              <a:rPr sz="1800" b="1" spc="500" dirty="0">
                <a:latin typeface="Consolas"/>
                <a:cs typeface="Consolas"/>
              </a:rPr>
              <a:t> </a:t>
            </a:r>
            <a:r>
              <a:rPr sz="1800" b="1" dirty="0">
                <a:latin typeface="Consolas"/>
                <a:cs typeface="Consolas"/>
              </a:rPr>
              <a:t>var</a:t>
            </a:r>
            <a:r>
              <a:rPr sz="1800" b="1" spc="-3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nome</a:t>
            </a:r>
            <a:r>
              <a:rPr sz="1800" spc="-3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=</a:t>
            </a:r>
            <a:r>
              <a:rPr sz="1800" spc="-40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“André”;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03241" y="5343271"/>
            <a:ext cx="22402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90" dirty="0">
                <a:latin typeface="Verdana"/>
                <a:cs typeface="Verdana"/>
              </a:rPr>
              <a:t>Será</a:t>
            </a:r>
            <a:r>
              <a:rPr sz="1800" b="1" spc="-220" dirty="0">
                <a:latin typeface="Verdana"/>
                <a:cs typeface="Verdana"/>
              </a:rPr>
              <a:t> </a:t>
            </a:r>
            <a:r>
              <a:rPr sz="1800" b="1" spc="-45" dirty="0">
                <a:latin typeface="Verdana"/>
                <a:cs typeface="Verdana"/>
              </a:rPr>
              <a:t>do</a:t>
            </a:r>
            <a:r>
              <a:rPr sz="1800" b="1" spc="-114" dirty="0">
                <a:latin typeface="Verdana"/>
                <a:cs typeface="Verdana"/>
              </a:rPr>
              <a:t> </a:t>
            </a:r>
            <a:r>
              <a:rPr sz="1800" b="1" spc="-65" dirty="0">
                <a:latin typeface="Verdana"/>
                <a:cs typeface="Verdana"/>
              </a:rPr>
              <a:t>tipo</a:t>
            </a:r>
            <a:r>
              <a:rPr sz="1800" b="1" spc="-100" dirty="0">
                <a:latin typeface="Verdana"/>
                <a:cs typeface="Verdana"/>
              </a:rPr>
              <a:t> </a:t>
            </a:r>
            <a:r>
              <a:rPr sz="1800" b="1" spc="-25" dirty="0">
                <a:latin typeface="Verdana"/>
                <a:cs typeface="Verdana"/>
              </a:rPr>
              <a:t>int </a:t>
            </a:r>
            <a:r>
              <a:rPr sz="1800" b="1" spc="-90" dirty="0">
                <a:latin typeface="Verdana"/>
                <a:cs typeface="Verdana"/>
              </a:rPr>
              <a:t>Será</a:t>
            </a:r>
            <a:r>
              <a:rPr sz="1800" b="1" spc="-220" dirty="0">
                <a:latin typeface="Verdana"/>
                <a:cs typeface="Verdana"/>
              </a:rPr>
              <a:t> </a:t>
            </a:r>
            <a:r>
              <a:rPr sz="1800" b="1" spc="-45" dirty="0">
                <a:latin typeface="Verdana"/>
                <a:cs typeface="Verdana"/>
              </a:rPr>
              <a:t>do</a:t>
            </a:r>
            <a:r>
              <a:rPr sz="1800" b="1" spc="-114" dirty="0">
                <a:latin typeface="Verdana"/>
                <a:cs typeface="Verdana"/>
              </a:rPr>
              <a:t> </a:t>
            </a:r>
            <a:r>
              <a:rPr sz="1800" b="1" spc="-65" dirty="0">
                <a:latin typeface="Verdana"/>
                <a:cs typeface="Verdana"/>
              </a:rPr>
              <a:t>tipo</a:t>
            </a:r>
            <a:r>
              <a:rPr sz="1800" b="1" spc="-100" dirty="0">
                <a:latin typeface="Verdana"/>
                <a:cs typeface="Verdana"/>
              </a:rPr>
              <a:t> </a:t>
            </a:r>
            <a:r>
              <a:rPr sz="1800" b="1" spc="-50" dirty="0">
                <a:latin typeface="Verdana"/>
                <a:cs typeface="Verdana"/>
              </a:rPr>
              <a:t>string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3085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Tipos</a:t>
            </a:r>
            <a:r>
              <a:rPr spc="-355" dirty="0"/>
              <a:t> </a:t>
            </a:r>
            <a:r>
              <a:rPr spc="-155" dirty="0"/>
              <a:t>Primitivos</a:t>
            </a:r>
            <a:r>
              <a:rPr spc="-290" dirty="0"/>
              <a:t> </a:t>
            </a:r>
            <a:r>
              <a:rPr spc="-45" dirty="0"/>
              <a:t>em</a:t>
            </a:r>
            <a:r>
              <a:rPr spc="-225" dirty="0"/>
              <a:t> </a:t>
            </a:r>
            <a:r>
              <a:rPr spc="-50" dirty="0"/>
              <a:t>C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49440" y="987552"/>
            <a:ext cx="313944" cy="32003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Object</a:t>
            </a:r>
          </a:p>
          <a:p>
            <a:pPr marL="12700" marR="5080">
              <a:lnSpc>
                <a:spcPct val="100000"/>
              </a:lnSpc>
              <a:spcBef>
                <a:spcPts val="2405"/>
              </a:spcBef>
            </a:pPr>
            <a:r>
              <a:rPr sz="1800" b="0" dirty="0">
                <a:latin typeface="Verdana"/>
                <a:cs typeface="Verdana"/>
              </a:rPr>
              <a:t>Tipo</a:t>
            </a:r>
            <a:r>
              <a:rPr sz="1800" b="0" spc="130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genérico</a:t>
            </a:r>
            <a:r>
              <a:rPr sz="1800" b="0" spc="130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que</a:t>
            </a:r>
            <a:r>
              <a:rPr sz="1800" b="0" spc="190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recebe</a:t>
            </a:r>
            <a:r>
              <a:rPr sz="1800" b="0" spc="145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qualquer</a:t>
            </a:r>
            <a:r>
              <a:rPr sz="1800" b="0" spc="150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valor</a:t>
            </a:r>
            <a:r>
              <a:rPr sz="1800" b="0" spc="114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ou</a:t>
            </a:r>
            <a:r>
              <a:rPr sz="1800" b="0" spc="175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objeto,</a:t>
            </a:r>
            <a:r>
              <a:rPr sz="1800" b="0" spc="114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caso</a:t>
            </a:r>
            <a:r>
              <a:rPr sz="1800" b="0" spc="100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não</a:t>
            </a:r>
            <a:r>
              <a:rPr sz="1800" b="0" spc="105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saiba</a:t>
            </a:r>
            <a:r>
              <a:rPr sz="1800" b="0" spc="125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o</a:t>
            </a:r>
            <a:r>
              <a:rPr sz="1800" b="0" spc="105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tipo</a:t>
            </a:r>
            <a:r>
              <a:rPr sz="1800" b="0" spc="120" dirty="0">
                <a:latin typeface="Verdana"/>
                <a:cs typeface="Verdana"/>
              </a:rPr>
              <a:t> </a:t>
            </a:r>
            <a:r>
              <a:rPr sz="1800" b="0" spc="-25" dirty="0">
                <a:latin typeface="Verdana"/>
                <a:cs typeface="Verdana"/>
              </a:rPr>
              <a:t>da </a:t>
            </a:r>
            <a:r>
              <a:rPr sz="1800" b="0" dirty="0">
                <a:latin typeface="Verdana"/>
                <a:cs typeface="Verdana"/>
              </a:rPr>
              <a:t>informação</a:t>
            </a:r>
            <a:r>
              <a:rPr sz="1800" b="0" spc="-85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ou</a:t>
            </a:r>
            <a:r>
              <a:rPr sz="1800" b="0" spc="-55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ela</a:t>
            </a:r>
            <a:r>
              <a:rPr sz="1800" b="0" spc="-85" dirty="0">
                <a:latin typeface="Verdana"/>
                <a:cs typeface="Verdana"/>
              </a:rPr>
              <a:t> </a:t>
            </a:r>
            <a:r>
              <a:rPr sz="1800" b="0" spc="-60" dirty="0">
                <a:latin typeface="Verdana"/>
                <a:cs typeface="Verdana"/>
              </a:rPr>
              <a:t>seja</a:t>
            </a:r>
            <a:r>
              <a:rPr sz="1800" b="0" spc="-185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de</a:t>
            </a:r>
            <a:r>
              <a:rPr sz="1800" b="0" spc="-65" dirty="0">
                <a:latin typeface="Verdana"/>
                <a:cs typeface="Verdana"/>
              </a:rPr>
              <a:t> </a:t>
            </a:r>
            <a:r>
              <a:rPr sz="1800" b="0" spc="-40" dirty="0">
                <a:latin typeface="Verdana"/>
                <a:cs typeface="Verdana"/>
              </a:rPr>
              <a:t>vários</a:t>
            </a:r>
            <a:r>
              <a:rPr sz="1800" b="0" spc="-150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tipos</a:t>
            </a:r>
            <a:r>
              <a:rPr sz="1800" b="0" spc="-90" dirty="0">
                <a:latin typeface="Verdana"/>
                <a:cs typeface="Verdana"/>
              </a:rPr>
              <a:t> </a:t>
            </a:r>
            <a:r>
              <a:rPr sz="1800" b="0" spc="-10" dirty="0">
                <a:latin typeface="Verdana"/>
                <a:cs typeface="Verdana"/>
              </a:rPr>
              <a:t>diferentes.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b="0" dirty="0">
                <a:latin typeface="Verdana"/>
                <a:cs typeface="Verdana"/>
              </a:rPr>
              <a:t>Não</a:t>
            </a:r>
            <a:r>
              <a:rPr sz="1800" b="0" spc="-110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possui</a:t>
            </a:r>
            <a:r>
              <a:rPr sz="1800" b="0" spc="-70" dirty="0">
                <a:latin typeface="Verdana"/>
                <a:cs typeface="Verdana"/>
              </a:rPr>
              <a:t> </a:t>
            </a:r>
            <a:r>
              <a:rPr sz="1800" b="0" spc="-20" dirty="0">
                <a:latin typeface="Verdana"/>
                <a:cs typeface="Verdana"/>
              </a:rPr>
              <a:t>intelisense</a:t>
            </a:r>
            <a:r>
              <a:rPr sz="1800" b="0" spc="-105" dirty="0">
                <a:latin typeface="Verdana"/>
                <a:cs typeface="Verdana"/>
              </a:rPr>
              <a:t> </a:t>
            </a:r>
            <a:r>
              <a:rPr sz="1800" b="0" spc="-40" dirty="0">
                <a:latin typeface="Verdana"/>
                <a:cs typeface="Verdana"/>
              </a:rPr>
              <a:t>(Ajuda</a:t>
            </a:r>
            <a:r>
              <a:rPr sz="1800" b="0" spc="-145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dos</a:t>
            </a:r>
            <a:r>
              <a:rPr sz="1800" b="0" spc="-80" dirty="0">
                <a:latin typeface="Verdana"/>
                <a:cs typeface="Verdana"/>
              </a:rPr>
              <a:t> </a:t>
            </a:r>
            <a:r>
              <a:rPr sz="1800" b="0" spc="-40" dirty="0">
                <a:latin typeface="Verdana"/>
                <a:cs typeface="Verdana"/>
              </a:rPr>
              <a:t>editores)</a:t>
            </a:r>
            <a:r>
              <a:rPr sz="1800" b="0" spc="-80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por</a:t>
            </a:r>
            <a:r>
              <a:rPr sz="1800" b="0" spc="-90" dirty="0">
                <a:latin typeface="Verdana"/>
                <a:cs typeface="Verdana"/>
              </a:rPr>
              <a:t> </a:t>
            </a:r>
            <a:r>
              <a:rPr sz="1800" b="0" spc="-50" dirty="0">
                <a:latin typeface="Verdana"/>
                <a:cs typeface="Verdana"/>
              </a:rPr>
              <a:t>ser</a:t>
            </a:r>
            <a:r>
              <a:rPr sz="1800" b="0" spc="-135" dirty="0">
                <a:latin typeface="Verdana"/>
                <a:cs typeface="Verdana"/>
              </a:rPr>
              <a:t> </a:t>
            </a:r>
            <a:r>
              <a:rPr sz="1800" b="0" spc="50" dirty="0">
                <a:latin typeface="Verdana"/>
                <a:cs typeface="Verdana"/>
              </a:rPr>
              <a:t>um</a:t>
            </a:r>
            <a:r>
              <a:rPr sz="1800" b="0" spc="20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tipo</a:t>
            </a:r>
            <a:r>
              <a:rPr sz="1800" b="0" spc="-80" dirty="0">
                <a:latin typeface="Verdana"/>
                <a:cs typeface="Verdana"/>
              </a:rPr>
              <a:t> </a:t>
            </a:r>
            <a:r>
              <a:rPr sz="1800" b="0" spc="-10" dirty="0">
                <a:latin typeface="Verdana"/>
                <a:cs typeface="Verdana"/>
              </a:rPr>
              <a:t>desconhecido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b="0" spc="-20" dirty="0">
                <a:latin typeface="Verdana"/>
                <a:cs typeface="Verdana"/>
              </a:rPr>
              <a:t>Evite</a:t>
            </a:r>
            <a:r>
              <a:rPr sz="1800" b="0" spc="-130" dirty="0">
                <a:latin typeface="Verdana"/>
                <a:cs typeface="Verdana"/>
              </a:rPr>
              <a:t> </a:t>
            </a:r>
            <a:r>
              <a:rPr sz="1800" b="0" spc="-20" dirty="0">
                <a:latin typeface="Verdana"/>
                <a:cs typeface="Verdana"/>
              </a:rPr>
              <a:t>usar.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17675" y="3592448"/>
            <a:ext cx="27673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nsolas"/>
                <a:cs typeface="Consolas"/>
              </a:rPr>
              <a:t>object</a:t>
            </a:r>
            <a:r>
              <a:rPr sz="1800" b="1" spc="-6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idade</a:t>
            </a:r>
            <a:r>
              <a:rPr sz="1800" spc="-3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=</a:t>
            </a:r>
            <a:r>
              <a:rPr sz="1800" spc="-55" dirty="0">
                <a:latin typeface="Consolas"/>
                <a:cs typeface="Consolas"/>
              </a:rPr>
              <a:t> </a:t>
            </a:r>
            <a:r>
              <a:rPr sz="1800" spc="-25" dirty="0">
                <a:latin typeface="Consolas"/>
                <a:cs typeface="Consolas"/>
              </a:rPr>
              <a:t>25</a:t>
            </a:r>
            <a:r>
              <a:rPr sz="1800" b="1" spc="-25" dirty="0">
                <a:latin typeface="Consolas"/>
                <a:cs typeface="Consolas"/>
              </a:rPr>
              <a:t>; </a:t>
            </a:r>
            <a:r>
              <a:rPr sz="1800" b="1" dirty="0">
                <a:latin typeface="Consolas"/>
                <a:cs typeface="Consolas"/>
              </a:rPr>
              <a:t>object</a:t>
            </a:r>
            <a:r>
              <a:rPr sz="1800" b="1" spc="-4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nome</a:t>
            </a:r>
            <a:r>
              <a:rPr sz="1800" spc="-3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=</a:t>
            </a:r>
            <a:r>
              <a:rPr sz="1800" spc="-45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“André”;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04891" y="3604641"/>
            <a:ext cx="22923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90" dirty="0">
                <a:latin typeface="Verdana"/>
                <a:cs typeface="Verdana"/>
              </a:rPr>
              <a:t>Será</a:t>
            </a:r>
            <a:r>
              <a:rPr sz="1800" b="1" spc="-225" dirty="0">
                <a:latin typeface="Verdana"/>
                <a:cs typeface="Verdana"/>
              </a:rPr>
              <a:t> </a:t>
            </a:r>
            <a:r>
              <a:rPr sz="1800" b="1" spc="-35" dirty="0">
                <a:latin typeface="Verdana"/>
                <a:cs typeface="Verdana"/>
              </a:rPr>
              <a:t>do</a:t>
            </a:r>
            <a:r>
              <a:rPr sz="1800" b="1" spc="-130" dirty="0">
                <a:latin typeface="Verdana"/>
                <a:cs typeface="Verdana"/>
              </a:rPr>
              <a:t> </a:t>
            </a:r>
            <a:r>
              <a:rPr sz="1800" b="1" spc="-60" dirty="0">
                <a:latin typeface="Verdana"/>
                <a:cs typeface="Verdana"/>
              </a:rPr>
              <a:t>tipo</a:t>
            </a:r>
            <a:r>
              <a:rPr sz="1800" b="1" spc="-120" dirty="0">
                <a:latin typeface="Verdana"/>
                <a:cs typeface="Verdana"/>
              </a:rPr>
              <a:t> </a:t>
            </a:r>
            <a:r>
              <a:rPr sz="1800" b="1" spc="-40" dirty="0">
                <a:latin typeface="Verdana"/>
                <a:cs typeface="Verdana"/>
              </a:rPr>
              <a:t>object </a:t>
            </a:r>
            <a:r>
              <a:rPr sz="1800" b="1" spc="-90" dirty="0">
                <a:latin typeface="Verdana"/>
                <a:cs typeface="Verdana"/>
              </a:rPr>
              <a:t>Será</a:t>
            </a:r>
            <a:r>
              <a:rPr sz="1800" b="1" spc="-195" dirty="0">
                <a:latin typeface="Verdana"/>
                <a:cs typeface="Verdana"/>
              </a:rPr>
              <a:t> </a:t>
            </a:r>
            <a:r>
              <a:rPr sz="1800" b="1" spc="-50" dirty="0">
                <a:latin typeface="Verdana"/>
                <a:cs typeface="Verdana"/>
              </a:rPr>
              <a:t>do</a:t>
            </a:r>
            <a:r>
              <a:rPr sz="1800" b="1" spc="-130" dirty="0">
                <a:latin typeface="Verdana"/>
                <a:cs typeface="Verdana"/>
              </a:rPr>
              <a:t> </a:t>
            </a:r>
            <a:r>
              <a:rPr sz="1800" b="1" spc="-60" dirty="0">
                <a:latin typeface="Verdana"/>
                <a:cs typeface="Verdana"/>
              </a:rPr>
              <a:t>tipo</a:t>
            </a:r>
            <a:r>
              <a:rPr sz="1800" b="1" spc="-120" dirty="0">
                <a:latin typeface="Verdana"/>
                <a:cs typeface="Verdana"/>
              </a:rPr>
              <a:t> </a:t>
            </a:r>
            <a:r>
              <a:rPr sz="1800" b="1" spc="-40" dirty="0">
                <a:latin typeface="Verdana"/>
                <a:cs typeface="Verdana"/>
              </a:rPr>
              <a:t>object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3085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Tipos</a:t>
            </a:r>
            <a:r>
              <a:rPr spc="-355" dirty="0"/>
              <a:t> </a:t>
            </a:r>
            <a:r>
              <a:rPr spc="-155" dirty="0"/>
              <a:t>Primitivos</a:t>
            </a:r>
            <a:r>
              <a:rPr spc="-290" dirty="0"/>
              <a:t> </a:t>
            </a:r>
            <a:r>
              <a:rPr spc="-45" dirty="0"/>
              <a:t>em</a:t>
            </a:r>
            <a:r>
              <a:rPr spc="-225" dirty="0"/>
              <a:t> </a:t>
            </a:r>
            <a:r>
              <a:rPr spc="-50" dirty="0"/>
              <a:t>C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49440" y="987552"/>
            <a:ext cx="313944" cy="32003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7675" y="1622297"/>
            <a:ext cx="9054465" cy="33667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000" b="1" spc="-85" dirty="0">
                <a:latin typeface="Verdana"/>
                <a:cs typeface="Verdana"/>
              </a:rPr>
              <a:t>Nullable</a:t>
            </a:r>
            <a:r>
              <a:rPr sz="2000" b="1" spc="-160" dirty="0">
                <a:latin typeface="Verdana"/>
                <a:cs typeface="Verdana"/>
              </a:rPr>
              <a:t> </a:t>
            </a:r>
            <a:r>
              <a:rPr sz="2000" b="1" spc="-20" dirty="0">
                <a:latin typeface="Verdana"/>
                <a:cs typeface="Verdana"/>
              </a:rPr>
              <a:t>Types</a:t>
            </a:r>
            <a:endParaRPr sz="2000">
              <a:latin typeface="Verdana"/>
              <a:cs typeface="Verdana"/>
            </a:endParaRPr>
          </a:p>
          <a:p>
            <a:pPr marL="12700" marR="2330450" algn="just">
              <a:lnSpc>
                <a:spcPct val="100000"/>
              </a:lnSpc>
              <a:spcBef>
                <a:spcPts val="2405"/>
              </a:spcBef>
            </a:pPr>
            <a:r>
              <a:rPr sz="1800" dirty="0">
                <a:latin typeface="Verdana"/>
                <a:cs typeface="Verdana"/>
              </a:rPr>
              <a:t>Significa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-95" dirty="0">
                <a:latin typeface="Verdana"/>
                <a:cs typeface="Verdana"/>
              </a:rPr>
              <a:t>vazio,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spc="-55" dirty="0">
                <a:latin typeface="Verdana"/>
                <a:cs typeface="Verdana"/>
              </a:rPr>
              <a:t>nada,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diferente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zero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ou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uma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string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vazia </a:t>
            </a:r>
            <a:r>
              <a:rPr sz="1800" dirty="0">
                <a:latin typeface="Verdana"/>
                <a:cs typeface="Verdana"/>
              </a:rPr>
              <a:t>Todo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spc="-35" dirty="0">
                <a:latin typeface="Verdana"/>
                <a:cs typeface="Verdana"/>
              </a:rPr>
              <a:t>tipo,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primitivo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ou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complexo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pode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receber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valor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null </a:t>
            </a:r>
            <a:r>
              <a:rPr sz="1800" dirty="0">
                <a:latin typeface="Verdana"/>
                <a:cs typeface="Verdana"/>
              </a:rPr>
              <a:t>O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tipo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deve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40" dirty="0">
                <a:latin typeface="Verdana"/>
                <a:cs typeface="Verdana"/>
              </a:rPr>
              <a:t>ser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marcado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45" dirty="0">
                <a:latin typeface="Verdana"/>
                <a:cs typeface="Verdana"/>
              </a:rPr>
              <a:t>como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Nullable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Type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Podemos</a:t>
            </a:r>
            <a:r>
              <a:rPr sz="1800" spc="27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atribuir</a:t>
            </a:r>
            <a:r>
              <a:rPr sz="1800" spc="17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null</a:t>
            </a:r>
            <a:r>
              <a:rPr sz="1800" spc="18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170" dirty="0">
                <a:latin typeface="Verdana"/>
                <a:cs typeface="Verdana"/>
              </a:rPr>
              <a:t> </a:t>
            </a:r>
            <a:r>
              <a:rPr sz="1800" spc="60" dirty="0">
                <a:latin typeface="Verdana"/>
                <a:cs typeface="Verdana"/>
              </a:rPr>
              <a:t>um</a:t>
            </a:r>
            <a:r>
              <a:rPr sz="1800" spc="27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objeto</a:t>
            </a:r>
            <a:r>
              <a:rPr sz="1800" spc="1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desde</a:t>
            </a:r>
            <a:r>
              <a:rPr sz="1800" spc="204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que</a:t>
            </a:r>
            <a:r>
              <a:rPr sz="1800" spc="2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</a:t>
            </a:r>
            <a:r>
              <a:rPr sz="1800" spc="1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mesmo</a:t>
            </a:r>
            <a:r>
              <a:rPr sz="1800" spc="2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seja</a:t>
            </a:r>
            <a:r>
              <a:rPr sz="1800" spc="1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marcado</a:t>
            </a:r>
            <a:r>
              <a:rPr sz="1800" spc="15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como </a:t>
            </a:r>
            <a:r>
              <a:rPr sz="1800" spc="-10" dirty="0">
                <a:latin typeface="Verdana"/>
                <a:cs typeface="Verdana"/>
              </a:rPr>
              <a:t>nullable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Usando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interrogação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na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frente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do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tipo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spc="-30" dirty="0">
                <a:latin typeface="Verdana"/>
                <a:cs typeface="Verdana"/>
              </a:rPr>
              <a:t>Se</a:t>
            </a:r>
            <a:r>
              <a:rPr sz="1800" spc="-17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uma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chamada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50" dirty="0">
                <a:latin typeface="Verdana"/>
                <a:cs typeface="Verdana"/>
              </a:rPr>
              <a:t>um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spc="-40" dirty="0">
                <a:latin typeface="Verdana"/>
                <a:cs typeface="Verdana"/>
              </a:rPr>
              <a:t>valor</a:t>
            </a:r>
            <a:r>
              <a:rPr sz="1800" spc="-1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nulo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for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65" dirty="0">
                <a:latin typeface="Verdana"/>
                <a:cs typeface="Verdana"/>
              </a:rPr>
              <a:t>feita,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50" dirty="0">
                <a:latin typeface="Verdana"/>
                <a:cs typeface="Verdana"/>
              </a:rPr>
              <a:t>um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erro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40" dirty="0">
                <a:latin typeface="Verdana"/>
                <a:cs typeface="Verdana"/>
              </a:rPr>
              <a:t>será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apresentado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020"/>
              </a:spcBef>
            </a:pPr>
            <a:r>
              <a:rPr sz="1800" dirty="0">
                <a:latin typeface="Consolas"/>
                <a:cs typeface="Consolas"/>
              </a:rPr>
              <a:t>int</a:t>
            </a:r>
            <a:r>
              <a:rPr sz="1800" b="1" dirty="0">
                <a:solidFill>
                  <a:srgbClr val="00AE50"/>
                </a:solidFill>
                <a:latin typeface="Consolas"/>
                <a:cs typeface="Consolas"/>
              </a:rPr>
              <a:t>?</a:t>
            </a:r>
            <a:r>
              <a:rPr sz="1800" b="1" spc="-40" dirty="0">
                <a:solidFill>
                  <a:srgbClr val="00AE50"/>
                </a:solidFill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idade</a:t>
            </a:r>
            <a:r>
              <a:rPr sz="1800" spc="-3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=</a:t>
            </a:r>
            <a:r>
              <a:rPr sz="1800" spc="-35" dirty="0">
                <a:latin typeface="Consolas"/>
                <a:cs typeface="Consolas"/>
              </a:rPr>
              <a:t> </a:t>
            </a:r>
            <a:r>
              <a:rPr sz="1800" b="1" spc="-20" dirty="0">
                <a:latin typeface="Consolas"/>
                <a:cs typeface="Consolas"/>
              </a:rPr>
              <a:t>null</a:t>
            </a:r>
            <a:r>
              <a:rPr sz="1800" spc="-20" dirty="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3085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Tipos</a:t>
            </a:r>
            <a:r>
              <a:rPr spc="-355" dirty="0"/>
              <a:t> </a:t>
            </a:r>
            <a:r>
              <a:rPr spc="-155" dirty="0"/>
              <a:t>Primitivos</a:t>
            </a:r>
            <a:r>
              <a:rPr spc="-290" dirty="0"/>
              <a:t> </a:t>
            </a:r>
            <a:r>
              <a:rPr spc="-45" dirty="0"/>
              <a:t>em</a:t>
            </a:r>
            <a:r>
              <a:rPr spc="-225" dirty="0"/>
              <a:t> </a:t>
            </a:r>
            <a:r>
              <a:rPr spc="-50" dirty="0"/>
              <a:t>C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49440" y="987552"/>
            <a:ext cx="313944" cy="32003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7675" y="1622297"/>
            <a:ext cx="7152640" cy="32683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90" dirty="0">
                <a:latin typeface="Verdana"/>
                <a:cs typeface="Verdana"/>
              </a:rPr>
              <a:t>Valores</a:t>
            </a:r>
            <a:r>
              <a:rPr sz="2000" b="1" spc="-195" dirty="0">
                <a:latin typeface="Verdana"/>
                <a:cs typeface="Verdana"/>
              </a:rPr>
              <a:t> </a:t>
            </a:r>
            <a:r>
              <a:rPr sz="2000" b="1" spc="-10" dirty="0">
                <a:latin typeface="Verdana"/>
                <a:cs typeface="Verdana"/>
              </a:rPr>
              <a:t>Padrões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405"/>
              </a:spcBef>
            </a:pPr>
            <a:r>
              <a:rPr sz="1800" dirty="0">
                <a:latin typeface="Verdana"/>
                <a:cs typeface="Verdana"/>
              </a:rPr>
              <a:t>Todo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tipo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built-</a:t>
            </a:r>
            <a:r>
              <a:rPr sz="1800" spc="-60" dirty="0">
                <a:latin typeface="Verdana"/>
                <a:cs typeface="Verdana"/>
              </a:rPr>
              <a:t>in,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-40" dirty="0">
                <a:latin typeface="Verdana"/>
                <a:cs typeface="Verdana"/>
              </a:rPr>
              <a:t>já</a:t>
            </a:r>
            <a:r>
              <a:rPr sz="1800" spc="-2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possui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50" dirty="0">
                <a:latin typeface="Verdana"/>
                <a:cs typeface="Verdana"/>
              </a:rPr>
              <a:t>um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35" dirty="0">
                <a:latin typeface="Verdana"/>
                <a:cs typeface="Verdana"/>
              </a:rPr>
              <a:t>valor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padrão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spc="-35" dirty="0">
                <a:latin typeface="Verdana"/>
                <a:cs typeface="Verdana"/>
              </a:rPr>
              <a:t>Se</a:t>
            </a:r>
            <a:r>
              <a:rPr sz="1800" spc="-185" dirty="0">
                <a:latin typeface="Verdana"/>
                <a:cs typeface="Verdana"/>
              </a:rPr>
              <a:t> </a:t>
            </a:r>
            <a:r>
              <a:rPr sz="1800" spc="55" dirty="0">
                <a:latin typeface="Verdana"/>
                <a:cs typeface="Verdana"/>
              </a:rPr>
              <a:t>nenhum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40" dirty="0">
                <a:latin typeface="Verdana"/>
                <a:cs typeface="Verdana"/>
              </a:rPr>
              <a:t>valor</a:t>
            </a:r>
            <a:r>
              <a:rPr sz="1800" spc="-155" dirty="0">
                <a:latin typeface="Verdana"/>
                <a:cs typeface="Verdana"/>
              </a:rPr>
              <a:t> </a:t>
            </a:r>
            <a:r>
              <a:rPr sz="1800" spc="-30" dirty="0">
                <a:latin typeface="Verdana"/>
                <a:cs typeface="Verdana"/>
              </a:rPr>
              <a:t>for</a:t>
            </a:r>
            <a:r>
              <a:rPr sz="1800" spc="-1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informado,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seu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40" dirty="0">
                <a:latin typeface="Verdana"/>
                <a:cs typeface="Verdana"/>
              </a:rPr>
              <a:t>valor</a:t>
            </a:r>
            <a:r>
              <a:rPr sz="1800" spc="-1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padrão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40" dirty="0">
                <a:latin typeface="Verdana"/>
                <a:cs typeface="Verdana"/>
              </a:rPr>
              <a:t>será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utilizado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20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dirty="0">
                <a:latin typeface="Consolas"/>
                <a:cs typeface="Consolas"/>
              </a:rPr>
              <a:t>int</a:t>
            </a:r>
            <a:r>
              <a:rPr sz="2000" b="1" spc="-2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=</a:t>
            </a:r>
            <a:r>
              <a:rPr sz="2000" spc="-10" dirty="0"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0</a:t>
            </a:r>
            <a:endParaRPr sz="2000">
              <a:latin typeface="Consolas"/>
              <a:cs typeface="Consolas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b="1" dirty="0">
                <a:latin typeface="Consolas"/>
                <a:cs typeface="Consolas"/>
              </a:rPr>
              <a:t>float</a:t>
            </a:r>
            <a:r>
              <a:rPr sz="2000" b="1" spc="-2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=</a:t>
            </a:r>
            <a:r>
              <a:rPr sz="2000" spc="-5" dirty="0"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0</a:t>
            </a:r>
            <a:endParaRPr sz="2000">
              <a:latin typeface="Consolas"/>
              <a:cs typeface="Consolas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b="1" dirty="0">
                <a:latin typeface="Consolas"/>
                <a:cs typeface="Consolas"/>
              </a:rPr>
              <a:t>decimal</a:t>
            </a:r>
            <a:r>
              <a:rPr sz="2000" b="1" spc="-4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=</a:t>
            </a:r>
            <a:r>
              <a:rPr sz="2000" spc="5" dirty="0"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0</a:t>
            </a:r>
            <a:endParaRPr sz="2000">
              <a:latin typeface="Consolas"/>
              <a:cs typeface="Consolas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b="1" dirty="0">
                <a:latin typeface="Consolas"/>
                <a:cs typeface="Consolas"/>
              </a:rPr>
              <a:t>bool</a:t>
            </a:r>
            <a:r>
              <a:rPr sz="2000" b="1" spc="-3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=</a:t>
            </a:r>
            <a:r>
              <a:rPr sz="2000" spc="5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false</a:t>
            </a:r>
            <a:endParaRPr sz="2000">
              <a:latin typeface="Consolas"/>
              <a:cs typeface="Consolas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b="1" dirty="0">
                <a:latin typeface="Consolas"/>
                <a:cs typeface="Consolas"/>
              </a:rPr>
              <a:t>char</a:t>
            </a:r>
            <a:r>
              <a:rPr sz="2000" b="1" spc="-3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=</a:t>
            </a:r>
            <a:r>
              <a:rPr sz="2000" spc="5" dirty="0">
                <a:latin typeface="Consolas"/>
                <a:cs typeface="Consolas"/>
              </a:rPr>
              <a:t> </a:t>
            </a:r>
            <a:r>
              <a:rPr sz="2000" spc="-20" dirty="0">
                <a:latin typeface="Consolas"/>
                <a:cs typeface="Consolas"/>
              </a:rPr>
              <a:t>'\0’</a:t>
            </a:r>
            <a:endParaRPr sz="2000">
              <a:latin typeface="Consolas"/>
              <a:cs typeface="Consolas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b="1" dirty="0">
                <a:latin typeface="Consolas"/>
                <a:cs typeface="Consolas"/>
              </a:rPr>
              <a:t>String</a:t>
            </a:r>
            <a:r>
              <a:rPr sz="2000" b="1" spc="-2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=</a:t>
            </a:r>
            <a:r>
              <a:rPr sz="2000" spc="-10" dirty="0">
                <a:latin typeface="Consolas"/>
                <a:cs typeface="Consolas"/>
              </a:rPr>
              <a:t> </a:t>
            </a:r>
            <a:r>
              <a:rPr sz="2000" spc="-25" dirty="0">
                <a:latin typeface="Consolas"/>
                <a:cs typeface="Consolas"/>
              </a:rPr>
              <a:t>“”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3085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Tipos</a:t>
            </a:r>
            <a:r>
              <a:rPr spc="-355" dirty="0"/>
              <a:t> </a:t>
            </a:r>
            <a:r>
              <a:rPr spc="-155" dirty="0"/>
              <a:t>Primitivos</a:t>
            </a:r>
            <a:r>
              <a:rPr spc="-290" dirty="0"/>
              <a:t> </a:t>
            </a:r>
            <a:r>
              <a:rPr spc="-45" dirty="0"/>
              <a:t>em</a:t>
            </a:r>
            <a:r>
              <a:rPr spc="-225" dirty="0"/>
              <a:t> </a:t>
            </a:r>
            <a:r>
              <a:rPr spc="-50" dirty="0"/>
              <a:t>C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49440" y="987552"/>
            <a:ext cx="313944" cy="32003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8004" y="3686555"/>
            <a:ext cx="149351" cy="1615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717675" y="1622297"/>
            <a:ext cx="9102725" cy="41840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Verdana"/>
                <a:cs typeface="Verdana"/>
              </a:rPr>
              <a:t>Variáveis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405"/>
              </a:spcBef>
            </a:pPr>
            <a:r>
              <a:rPr sz="1800" spc="50" dirty="0">
                <a:latin typeface="Verdana"/>
                <a:cs typeface="Verdana"/>
              </a:rPr>
              <a:t>Uma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variável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é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algo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que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utilizamos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para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armazenar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uma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informação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spc="-55" dirty="0">
                <a:latin typeface="Verdana"/>
                <a:cs typeface="Verdana"/>
              </a:rPr>
              <a:t>Ser</a:t>
            </a:r>
            <a:r>
              <a:rPr sz="1800" spc="-165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variável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significa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que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seu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35" dirty="0">
                <a:latin typeface="Verdana"/>
                <a:cs typeface="Verdana"/>
              </a:rPr>
              <a:t>valor</a:t>
            </a:r>
            <a:r>
              <a:rPr sz="1800" spc="-1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pode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ser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alterado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1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qualquer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momento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Ou</a:t>
            </a:r>
            <a:r>
              <a:rPr sz="1800" spc="2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seja,</a:t>
            </a:r>
            <a:r>
              <a:rPr sz="1800" spc="1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ele</a:t>
            </a:r>
            <a:r>
              <a:rPr sz="1800" spc="1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pode</a:t>
            </a:r>
            <a:r>
              <a:rPr sz="1800" spc="2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variar,</a:t>
            </a:r>
            <a:r>
              <a:rPr sz="1800" spc="30" dirty="0">
                <a:latin typeface="Verdana"/>
                <a:cs typeface="Verdana"/>
              </a:rPr>
              <a:t>  </a:t>
            </a:r>
            <a:r>
              <a:rPr sz="1800" dirty="0">
                <a:latin typeface="Verdana"/>
                <a:cs typeface="Verdana"/>
              </a:rPr>
              <a:t>sempre</a:t>
            </a:r>
            <a:r>
              <a:rPr sz="1800" spc="19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que</a:t>
            </a:r>
            <a:r>
              <a:rPr sz="1800" spc="2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“criamos”</a:t>
            </a:r>
            <a:r>
              <a:rPr sz="1800" spc="185" dirty="0">
                <a:latin typeface="Verdana"/>
                <a:cs typeface="Verdana"/>
              </a:rPr>
              <a:t> </a:t>
            </a:r>
            <a:r>
              <a:rPr sz="1800" spc="45" dirty="0">
                <a:latin typeface="Verdana"/>
                <a:cs typeface="Verdana"/>
              </a:rPr>
              <a:t>uma</a:t>
            </a:r>
            <a:r>
              <a:rPr sz="1800" spc="229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variável,</a:t>
            </a:r>
            <a:r>
              <a:rPr sz="1800" spc="1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dizemos</a:t>
            </a:r>
            <a:r>
              <a:rPr sz="1800" spc="17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que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estamos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inicializando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ela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Podemos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usar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50" dirty="0">
                <a:latin typeface="Verdana"/>
                <a:cs typeface="Verdana"/>
              </a:rPr>
              <a:t>um</a:t>
            </a:r>
            <a:r>
              <a:rPr sz="1800" spc="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TIPO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ou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30" dirty="0">
                <a:latin typeface="Verdana"/>
                <a:cs typeface="Verdana"/>
              </a:rPr>
              <a:t>palavra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40" dirty="0">
                <a:latin typeface="Verdana"/>
                <a:cs typeface="Verdana"/>
              </a:rPr>
              <a:t>reservada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b="1" spc="-90" dirty="0">
                <a:latin typeface="Verdana"/>
                <a:cs typeface="Verdana"/>
              </a:rPr>
              <a:t>var</a:t>
            </a:r>
            <a:r>
              <a:rPr sz="1800" b="1" spc="-2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para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criar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uma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variável</a:t>
            </a:r>
            <a:endParaRPr sz="1800">
              <a:latin typeface="Verdana"/>
              <a:cs typeface="Verdana"/>
            </a:endParaRPr>
          </a:p>
          <a:p>
            <a:pPr marL="12700" marR="5080" algn="just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Verdana"/>
                <a:cs typeface="Verdana"/>
              </a:rPr>
              <a:t>No</a:t>
            </a:r>
            <a:r>
              <a:rPr sz="1800" spc="3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</a:t>
            </a:r>
            <a:r>
              <a:rPr sz="1800" spc="3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tipo</a:t>
            </a:r>
            <a:r>
              <a:rPr sz="1800" spc="3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vem</a:t>
            </a:r>
            <a:r>
              <a:rPr sz="1800" spc="3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sempre</a:t>
            </a:r>
            <a:r>
              <a:rPr sz="1800" spc="3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antes</a:t>
            </a:r>
            <a:r>
              <a:rPr sz="1800" spc="29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do</a:t>
            </a:r>
            <a:r>
              <a:rPr sz="1800" spc="3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nome</a:t>
            </a:r>
            <a:r>
              <a:rPr sz="1800" spc="3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da</a:t>
            </a:r>
            <a:r>
              <a:rPr sz="1800" spc="315" dirty="0">
                <a:latin typeface="Verdana"/>
                <a:cs typeface="Verdana"/>
              </a:rPr>
              <a:t> </a:t>
            </a:r>
            <a:r>
              <a:rPr sz="1800" spc="-30" dirty="0">
                <a:latin typeface="Verdana"/>
                <a:cs typeface="Verdana"/>
              </a:rPr>
              <a:t>variável,</a:t>
            </a:r>
            <a:r>
              <a:rPr sz="1800" spc="229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podemos</a:t>
            </a:r>
            <a:r>
              <a:rPr sz="1800" spc="3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informar</a:t>
            </a:r>
            <a:r>
              <a:rPr sz="1800" spc="305" dirty="0">
                <a:latin typeface="Verdana"/>
                <a:cs typeface="Verdana"/>
              </a:rPr>
              <a:t> </a:t>
            </a:r>
            <a:r>
              <a:rPr sz="1800" spc="70" dirty="0">
                <a:latin typeface="Verdana"/>
                <a:cs typeface="Verdana"/>
              </a:rPr>
              <a:t>um </a:t>
            </a:r>
            <a:r>
              <a:rPr sz="1800" spc="-10" dirty="0">
                <a:latin typeface="Verdana"/>
                <a:cs typeface="Verdana"/>
              </a:rPr>
              <a:t>valor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já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na criação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da</a:t>
            </a:r>
            <a:r>
              <a:rPr sz="1800" spc="40" dirty="0">
                <a:latin typeface="Verdana"/>
                <a:cs typeface="Verdana"/>
              </a:rPr>
              <a:t> </a:t>
            </a:r>
            <a:r>
              <a:rPr sz="1800" spc="-60" dirty="0">
                <a:latin typeface="Verdana"/>
                <a:cs typeface="Verdana"/>
              </a:rPr>
              <a:t>variável, </a:t>
            </a:r>
            <a:r>
              <a:rPr sz="1800" dirty="0">
                <a:latin typeface="Verdana"/>
                <a:cs typeface="Verdana"/>
              </a:rPr>
              <a:t>se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não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informado</a:t>
            </a:r>
            <a:r>
              <a:rPr sz="1800" spc="45" dirty="0">
                <a:latin typeface="Verdana"/>
                <a:cs typeface="Verdana"/>
              </a:rPr>
              <a:t> </a:t>
            </a:r>
            <a:r>
              <a:rPr sz="1800" spc="55" dirty="0">
                <a:latin typeface="Verdana"/>
                <a:cs typeface="Verdana"/>
              </a:rPr>
              <a:t>nenhum</a:t>
            </a:r>
            <a:r>
              <a:rPr sz="1800" spc="85" dirty="0">
                <a:latin typeface="Verdana"/>
                <a:cs typeface="Verdana"/>
              </a:rPr>
              <a:t> </a:t>
            </a:r>
            <a:r>
              <a:rPr sz="1800" spc="-65" dirty="0">
                <a:latin typeface="Verdana"/>
                <a:cs typeface="Verdana"/>
              </a:rPr>
              <a:t>valor,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valor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padrão </a:t>
            </a:r>
            <a:r>
              <a:rPr sz="1800" spc="-40" dirty="0">
                <a:latin typeface="Verdana"/>
                <a:cs typeface="Verdana"/>
              </a:rPr>
              <a:t>será</a:t>
            </a:r>
            <a:r>
              <a:rPr sz="1800" spc="-15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aplicado</a:t>
            </a:r>
            <a:endParaRPr sz="1800">
              <a:latin typeface="Verdana"/>
              <a:cs typeface="Verdana"/>
            </a:endParaRPr>
          </a:p>
          <a:p>
            <a:pPr marL="12700" marR="4093845">
              <a:lnSpc>
                <a:spcPct val="100000"/>
              </a:lnSpc>
              <a:spcBef>
                <a:spcPts val="2005"/>
              </a:spcBef>
            </a:pPr>
            <a:r>
              <a:rPr sz="1800" b="1" dirty="0">
                <a:latin typeface="Consolas"/>
                <a:cs typeface="Consolas"/>
              </a:rPr>
              <a:t>int</a:t>
            </a:r>
            <a:r>
              <a:rPr sz="1800" b="1" spc="-65" dirty="0">
                <a:latin typeface="Consolas"/>
                <a:cs typeface="Consolas"/>
              </a:rPr>
              <a:t> </a:t>
            </a:r>
            <a:r>
              <a:rPr sz="1800" b="1" dirty="0">
                <a:latin typeface="Consolas"/>
                <a:cs typeface="Consolas"/>
              </a:rPr>
              <a:t>idade;</a:t>
            </a:r>
            <a:r>
              <a:rPr sz="1800" b="1" spc="-45" dirty="0"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A6A6A6"/>
                </a:solidFill>
                <a:latin typeface="Consolas"/>
                <a:cs typeface="Consolas"/>
              </a:rPr>
              <a:t>//</a:t>
            </a:r>
            <a:r>
              <a:rPr sz="1800" spc="-65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A6A6A6"/>
                </a:solidFill>
                <a:latin typeface="Consolas"/>
                <a:cs typeface="Consolas"/>
              </a:rPr>
              <a:t>Correto</a:t>
            </a:r>
            <a:r>
              <a:rPr sz="1800" spc="-45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A6A6A6"/>
                </a:solidFill>
                <a:latin typeface="Consolas"/>
                <a:cs typeface="Consolas"/>
              </a:rPr>
              <a:t>inicia</a:t>
            </a:r>
            <a:r>
              <a:rPr sz="1800" spc="-40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A6A6A6"/>
                </a:solidFill>
                <a:latin typeface="Consolas"/>
                <a:cs typeface="Consolas"/>
              </a:rPr>
              <a:t>com</a:t>
            </a:r>
            <a:r>
              <a:rPr sz="1800" spc="-30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800" spc="-20" dirty="0">
                <a:solidFill>
                  <a:srgbClr val="A6A6A6"/>
                </a:solidFill>
                <a:latin typeface="Consolas"/>
                <a:cs typeface="Consolas"/>
              </a:rPr>
              <a:t>ZERO </a:t>
            </a:r>
            <a:r>
              <a:rPr sz="1800" b="1" dirty="0">
                <a:latin typeface="Consolas"/>
                <a:cs typeface="Consolas"/>
              </a:rPr>
              <a:t>int</a:t>
            </a:r>
            <a:r>
              <a:rPr sz="1800" b="1" spc="-75" dirty="0">
                <a:latin typeface="Consolas"/>
                <a:cs typeface="Consolas"/>
              </a:rPr>
              <a:t> </a:t>
            </a:r>
            <a:r>
              <a:rPr sz="1800" b="1" dirty="0">
                <a:latin typeface="Consolas"/>
                <a:cs typeface="Consolas"/>
              </a:rPr>
              <a:t>idade</a:t>
            </a:r>
            <a:r>
              <a:rPr sz="1800" b="1" spc="-40" dirty="0">
                <a:latin typeface="Consolas"/>
                <a:cs typeface="Consolas"/>
              </a:rPr>
              <a:t> 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spc="-35" dirty="0">
                <a:latin typeface="Consolas"/>
                <a:cs typeface="Consolas"/>
              </a:rPr>
              <a:t> </a:t>
            </a:r>
            <a:r>
              <a:rPr sz="1800" b="1" dirty="0">
                <a:latin typeface="Consolas"/>
                <a:cs typeface="Consolas"/>
              </a:rPr>
              <a:t>25;</a:t>
            </a:r>
            <a:r>
              <a:rPr sz="1800" b="1" spc="-40" dirty="0"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A6A6A6"/>
                </a:solidFill>
                <a:latin typeface="Consolas"/>
                <a:cs typeface="Consolas"/>
              </a:rPr>
              <a:t>//</a:t>
            </a:r>
            <a:r>
              <a:rPr sz="1800" spc="-40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A6A6A6"/>
                </a:solidFill>
                <a:latin typeface="Consolas"/>
                <a:cs typeface="Consolas"/>
              </a:rPr>
              <a:t>Correto</a:t>
            </a:r>
            <a:r>
              <a:rPr sz="1800" spc="-55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A6A6A6"/>
                </a:solidFill>
                <a:latin typeface="Consolas"/>
                <a:cs typeface="Consolas"/>
              </a:rPr>
              <a:t>inicia</a:t>
            </a:r>
            <a:r>
              <a:rPr sz="1800" spc="-45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A6A6A6"/>
                </a:solidFill>
                <a:latin typeface="Consolas"/>
                <a:cs typeface="Consolas"/>
              </a:rPr>
              <a:t>com</a:t>
            </a:r>
            <a:r>
              <a:rPr sz="1800" spc="-45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800" spc="-25" dirty="0">
                <a:solidFill>
                  <a:srgbClr val="A6A6A6"/>
                </a:solidFill>
                <a:latin typeface="Consolas"/>
                <a:cs typeface="Consolas"/>
              </a:rPr>
              <a:t>25 </a:t>
            </a:r>
            <a:r>
              <a:rPr sz="1800" b="1" dirty="0">
                <a:latin typeface="Consolas"/>
                <a:cs typeface="Consolas"/>
              </a:rPr>
              <a:t>var</a:t>
            </a:r>
            <a:r>
              <a:rPr sz="1800" b="1" spc="-65" dirty="0">
                <a:latin typeface="Consolas"/>
                <a:cs typeface="Consolas"/>
              </a:rPr>
              <a:t> </a:t>
            </a:r>
            <a:r>
              <a:rPr sz="1800" b="1" dirty="0">
                <a:latin typeface="Consolas"/>
                <a:cs typeface="Consolas"/>
              </a:rPr>
              <a:t>idade</a:t>
            </a:r>
            <a:r>
              <a:rPr sz="1800" b="1" spc="-50" dirty="0">
                <a:latin typeface="Consolas"/>
                <a:cs typeface="Consolas"/>
              </a:rPr>
              <a:t> 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spc="-20" dirty="0">
                <a:latin typeface="Consolas"/>
                <a:cs typeface="Consolas"/>
              </a:rPr>
              <a:t> </a:t>
            </a:r>
            <a:r>
              <a:rPr sz="1800" b="1" dirty="0">
                <a:latin typeface="Consolas"/>
                <a:cs typeface="Consolas"/>
              </a:rPr>
              <a:t>25;</a:t>
            </a:r>
            <a:r>
              <a:rPr sz="1800" b="1" spc="-40" dirty="0"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A6A6A6"/>
                </a:solidFill>
                <a:latin typeface="Consolas"/>
                <a:cs typeface="Consolas"/>
              </a:rPr>
              <a:t>//</a:t>
            </a:r>
            <a:r>
              <a:rPr sz="1800" spc="-40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A6A6A6"/>
                </a:solidFill>
                <a:latin typeface="Consolas"/>
                <a:cs typeface="Consolas"/>
              </a:rPr>
              <a:t>Correto</a:t>
            </a:r>
            <a:r>
              <a:rPr sz="1800" spc="-45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A6A6A6"/>
                </a:solidFill>
                <a:latin typeface="Consolas"/>
                <a:cs typeface="Consolas"/>
              </a:rPr>
              <a:t>inicia</a:t>
            </a:r>
            <a:r>
              <a:rPr sz="1800" spc="-45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A6A6A6"/>
                </a:solidFill>
                <a:latin typeface="Consolas"/>
                <a:cs typeface="Consolas"/>
              </a:rPr>
              <a:t>com</a:t>
            </a:r>
            <a:r>
              <a:rPr sz="1800" spc="-45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800" spc="-25" dirty="0">
                <a:solidFill>
                  <a:srgbClr val="A6A6A6"/>
                </a:solidFill>
                <a:latin typeface="Consolas"/>
                <a:cs typeface="Consolas"/>
              </a:rPr>
              <a:t>25 </a:t>
            </a:r>
            <a:r>
              <a:rPr sz="1800" b="1" dirty="0">
                <a:latin typeface="Consolas"/>
                <a:cs typeface="Consolas"/>
              </a:rPr>
              <a:t>var</a:t>
            </a:r>
            <a:r>
              <a:rPr sz="1800" b="1" spc="-50" dirty="0">
                <a:latin typeface="Consolas"/>
                <a:cs typeface="Consolas"/>
              </a:rPr>
              <a:t> </a:t>
            </a:r>
            <a:r>
              <a:rPr sz="1800" b="1" dirty="0">
                <a:latin typeface="Consolas"/>
                <a:cs typeface="Consolas"/>
              </a:rPr>
              <a:t>idade;</a:t>
            </a:r>
            <a:r>
              <a:rPr sz="1800" b="1" spc="-40" dirty="0"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A6A6A6"/>
                </a:solidFill>
                <a:latin typeface="Consolas"/>
                <a:cs typeface="Consolas"/>
              </a:rPr>
              <a:t>//</a:t>
            </a:r>
            <a:r>
              <a:rPr sz="1800" spc="-45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A6A6A6"/>
                </a:solidFill>
                <a:latin typeface="Consolas"/>
                <a:cs typeface="Consolas"/>
              </a:rPr>
              <a:t>Errado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3085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Tipos</a:t>
            </a:r>
            <a:r>
              <a:rPr spc="-355" dirty="0"/>
              <a:t> </a:t>
            </a:r>
            <a:r>
              <a:rPr spc="-155" dirty="0"/>
              <a:t>Primitivos</a:t>
            </a:r>
            <a:r>
              <a:rPr spc="-290" dirty="0"/>
              <a:t> </a:t>
            </a:r>
            <a:r>
              <a:rPr spc="-45" dirty="0"/>
              <a:t>em</a:t>
            </a:r>
            <a:r>
              <a:rPr spc="-225" dirty="0"/>
              <a:t> </a:t>
            </a:r>
            <a:r>
              <a:rPr spc="-50" dirty="0"/>
              <a:t>C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49440" y="987552"/>
            <a:ext cx="313944" cy="32003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7675" y="1622297"/>
            <a:ext cx="4476115" cy="405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Verdana"/>
                <a:cs typeface="Verdana"/>
              </a:rPr>
              <a:t>Sintaxe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300"/>
              </a:spcBef>
            </a:pP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&lt;tipo&gt;</a:t>
            </a:r>
            <a:r>
              <a:rPr sz="2000" spc="-5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&lt;nome&gt;</a:t>
            </a:r>
            <a:r>
              <a:rPr sz="2000" spc="-4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=</a:t>
            </a:r>
            <a:r>
              <a:rPr sz="2000" spc="-10" dirty="0"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&lt;valor</a:t>
            </a:r>
            <a:r>
              <a:rPr sz="2000" spc="-5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onsolas"/>
                <a:cs typeface="Consolas"/>
              </a:rPr>
              <a:t>inicial&gt;</a:t>
            </a:r>
            <a:r>
              <a:rPr sz="2000" spc="-10" dirty="0">
                <a:latin typeface="Consolas"/>
                <a:cs typeface="Consolas"/>
              </a:rPr>
              <a:t>;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latin typeface="Verdana"/>
                <a:cs typeface="Verdana"/>
              </a:rPr>
              <a:t>Exemplos:</a:t>
            </a:r>
            <a:endParaRPr sz="18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Verdana"/>
                <a:cs typeface="Verdana"/>
              </a:rPr>
              <a:t>int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idade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=25;</a:t>
            </a:r>
            <a:endParaRPr sz="18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Verdana"/>
                <a:cs typeface="Verdana"/>
              </a:rPr>
              <a:t>double</a:t>
            </a:r>
            <a:r>
              <a:rPr sz="1800" spc="5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altura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=1.68;</a:t>
            </a:r>
            <a:endParaRPr sz="18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Verdana"/>
                <a:cs typeface="Verdana"/>
              </a:rPr>
              <a:t>char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40" dirty="0">
                <a:latin typeface="Verdana"/>
                <a:cs typeface="Verdana"/>
              </a:rPr>
              <a:t>sexo</a:t>
            </a:r>
            <a:r>
              <a:rPr sz="1800" spc="-16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='F’;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-50" dirty="0">
                <a:latin typeface="Verdana"/>
                <a:cs typeface="Verdana"/>
              </a:rPr>
              <a:t>Uma</a:t>
            </a:r>
            <a:r>
              <a:rPr sz="1800" b="1" spc="-145" dirty="0">
                <a:latin typeface="Verdana"/>
                <a:cs typeface="Verdana"/>
              </a:rPr>
              <a:t> </a:t>
            </a:r>
            <a:r>
              <a:rPr sz="1800" b="1" spc="-100" dirty="0">
                <a:latin typeface="Verdana"/>
                <a:cs typeface="Verdana"/>
              </a:rPr>
              <a:t>variável</a:t>
            </a:r>
            <a:r>
              <a:rPr sz="1800" b="1" spc="-110" dirty="0">
                <a:latin typeface="Verdana"/>
                <a:cs typeface="Verdana"/>
              </a:rPr>
              <a:t> </a:t>
            </a:r>
            <a:r>
              <a:rPr sz="1800" b="1" spc="-10" dirty="0">
                <a:latin typeface="Verdana"/>
                <a:cs typeface="Verdana"/>
              </a:rPr>
              <a:t>possui:</a:t>
            </a:r>
            <a:endParaRPr sz="18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Verdana"/>
                <a:cs typeface="Verdana"/>
              </a:rPr>
              <a:t>Nome</a:t>
            </a:r>
            <a:r>
              <a:rPr sz="1800" spc="50" dirty="0">
                <a:latin typeface="Verdana"/>
                <a:cs typeface="Verdana"/>
              </a:rPr>
              <a:t> </a:t>
            </a:r>
            <a:r>
              <a:rPr sz="1800" spc="-40" dirty="0">
                <a:latin typeface="Verdana"/>
                <a:cs typeface="Verdana"/>
              </a:rPr>
              <a:t>(ou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identificador)</a:t>
            </a:r>
            <a:endParaRPr sz="18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20" dirty="0">
                <a:latin typeface="Verdana"/>
                <a:cs typeface="Verdana"/>
              </a:rPr>
              <a:t>Tipo</a:t>
            </a:r>
            <a:endParaRPr sz="18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latin typeface="Verdana"/>
                <a:cs typeface="Verdana"/>
              </a:rPr>
              <a:t>Valor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3085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Declaração</a:t>
            </a:r>
            <a:r>
              <a:rPr spc="-305" dirty="0"/>
              <a:t> </a:t>
            </a:r>
            <a:r>
              <a:rPr spc="-30" dirty="0"/>
              <a:t>de</a:t>
            </a:r>
            <a:r>
              <a:rPr spc="-254" dirty="0"/>
              <a:t> </a:t>
            </a:r>
            <a:r>
              <a:rPr spc="-135" dirty="0"/>
              <a:t>variáveis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54067" y="2607564"/>
            <a:ext cx="1304543" cy="30937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7675" y="1622297"/>
            <a:ext cx="7228205" cy="2465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Utilize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nomes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coesos;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Não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utilize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caracteres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especiais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ou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espaços;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Não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50" dirty="0">
                <a:latin typeface="Verdana"/>
                <a:cs typeface="Verdana"/>
              </a:rPr>
              <a:t>comece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spc="50" dirty="0">
                <a:latin typeface="Verdana"/>
                <a:cs typeface="Verdana"/>
              </a:rPr>
              <a:t>com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números;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A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primeira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letra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cada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spc="-45" dirty="0">
                <a:latin typeface="Verdana"/>
                <a:cs typeface="Verdana"/>
              </a:rPr>
              <a:t>palavra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é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60" dirty="0">
                <a:latin typeface="Verdana"/>
                <a:cs typeface="Verdana"/>
              </a:rPr>
              <a:t>SEMPRE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minúscula;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spc="-10" dirty="0">
                <a:latin typeface="Verdana"/>
                <a:cs typeface="Verdana"/>
              </a:rPr>
              <a:t>Não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pode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começar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spc="55" dirty="0">
                <a:latin typeface="Verdana"/>
                <a:cs typeface="Verdana"/>
              </a:rPr>
              <a:t>com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spc="-45" dirty="0">
                <a:latin typeface="Verdana"/>
                <a:cs typeface="Verdana"/>
              </a:rPr>
              <a:t>dígito: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use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uma</a:t>
            </a:r>
            <a:r>
              <a:rPr sz="2000" spc="1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letra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ou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455" dirty="0">
                <a:latin typeface="Verdana"/>
                <a:cs typeface="Verdana"/>
              </a:rPr>
              <a:t>_;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Não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pode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ter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espaço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em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branco;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Não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usar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acentos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ou</a:t>
            </a:r>
            <a:r>
              <a:rPr sz="2000" spc="-20" dirty="0">
                <a:latin typeface="Verdana"/>
                <a:cs typeface="Verdana"/>
              </a:rPr>
              <a:t> til;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spc="-65" dirty="0">
                <a:latin typeface="Verdana"/>
                <a:cs typeface="Verdana"/>
              </a:rPr>
              <a:t>Sugestão:</a:t>
            </a:r>
            <a:r>
              <a:rPr sz="2000" spc="-2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use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padrão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"camel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case“.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3085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Nomenclatura</a:t>
            </a:r>
            <a:r>
              <a:rPr spc="-300" dirty="0"/>
              <a:t> </a:t>
            </a:r>
            <a:r>
              <a:rPr spc="-30" dirty="0"/>
              <a:t>de</a:t>
            </a:r>
            <a:r>
              <a:rPr spc="-235" dirty="0"/>
              <a:t> </a:t>
            </a:r>
            <a:r>
              <a:rPr spc="-130" dirty="0"/>
              <a:t>variáveis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15628" y="1149096"/>
            <a:ext cx="1847087" cy="153314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68067" y="4515611"/>
            <a:ext cx="8055864" cy="168554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7675" y="1622297"/>
            <a:ext cx="9440545" cy="3074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70866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Verdana"/>
                <a:cs typeface="Verdana"/>
              </a:rPr>
              <a:t>Também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utilizamos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uma</a:t>
            </a:r>
            <a:r>
              <a:rPr sz="2000" spc="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constante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para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armazenar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uma</a:t>
            </a:r>
            <a:r>
              <a:rPr sz="2000" spc="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informação </a:t>
            </a:r>
            <a:r>
              <a:rPr sz="2000" dirty="0">
                <a:latin typeface="Verdana"/>
                <a:cs typeface="Verdana"/>
              </a:rPr>
              <a:t>As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constantes</a:t>
            </a:r>
            <a:r>
              <a:rPr sz="2000" spc="-200" dirty="0">
                <a:latin typeface="Verdana"/>
                <a:cs typeface="Verdana"/>
              </a:rPr>
              <a:t> </a:t>
            </a:r>
            <a:r>
              <a:rPr sz="2000" b="1" spc="-35" dirty="0">
                <a:latin typeface="Verdana"/>
                <a:cs typeface="Verdana"/>
              </a:rPr>
              <a:t>NÃO</a:t>
            </a:r>
            <a:r>
              <a:rPr sz="2000" b="1" spc="-135" dirty="0">
                <a:latin typeface="Verdana"/>
                <a:cs typeface="Verdana"/>
              </a:rPr>
              <a:t> </a:t>
            </a:r>
            <a:r>
              <a:rPr sz="2000" b="1" spc="-20" dirty="0">
                <a:latin typeface="Verdana"/>
                <a:cs typeface="Verdana"/>
              </a:rPr>
              <a:t>PODEM</a:t>
            </a:r>
            <a:r>
              <a:rPr sz="2000" b="1" spc="-100" dirty="0">
                <a:latin typeface="Verdana"/>
                <a:cs typeface="Verdana"/>
              </a:rPr>
              <a:t> </a:t>
            </a:r>
            <a:r>
              <a:rPr sz="2000" spc="-35" dirty="0">
                <a:latin typeface="Verdana"/>
                <a:cs typeface="Verdana"/>
              </a:rPr>
              <a:t>ser</a:t>
            </a:r>
            <a:r>
              <a:rPr sz="2000" spc="-18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alteradas.</a:t>
            </a:r>
            <a:endParaRPr sz="2000">
              <a:latin typeface="Verdana"/>
              <a:cs typeface="Verdana"/>
            </a:endParaRPr>
          </a:p>
          <a:p>
            <a:pPr marL="12700" marR="74295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Uma</a:t>
            </a:r>
            <a:r>
              <a:rPr sz="2000" spc="11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vez</a:t>
            </a:r>
            <a:r>
              <a:rPr sz="2000" spc="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criadas</a:t>
            </a:r>
            <a:r>
              <a:rPr sz="2000" spc="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somos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obrigados</a:t>
            </a:r>
            <a:r>
              <a:rPr sz="2000" spc="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atribuir</a:t>
            </a:r>
            <a:r>
              <a:rPr sz="2000" spc="30" dirty="0">
                <a:latin typeface="Verdana"/>
                <a:cs typeface="Verdana"/>
              </a:rPr>
              <a:t> </a:t>
            </a:r>
            <a:r>
              <a:rPr sz="2000" spc="60" dirty="0">
                <a:latin typeface="Verdana"/>
                <a:cs typeface="Verdana"/>
              </a:rPr>
              <a:t>um</a:t>
            </a:r>
            <a:r>
              <a:rPr sz="2000" spc="160" dirty="0">
                <a:latin typeface="Verdana"/>
                <a:cs typeface="Verdana"/>
              </a:rPr>
              <a:t> </a:t>
            </a:r>
            <a:r>
              <a:rPr sz="2000" spc="-30" dirty="0">
                <a:latin typeface="Verdana"/>
                <a:cs typeface="Verdana"/>
              </a:rPr>
              <a:t>valor,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feito</a:t>
            </a:r>
            <a:r>
              <a:rPr sz="2000" spc="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isto</a:t>
            </a:r>
            <a:r>
              <a:rPr sz="2000" spc="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elas</a:t>
            </a:r>
            <a:r>
              <a:rPr sz="2000" spc="1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não </a:t>
            </a:r>
            <a:r>
              <a:rPr sz="2000" dirty="0">
                <a:latin typeface="Verdana"/>
                <a:cs typeface="Verdana"/>
              </a:rPr>
              <a:t>poderão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ser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modificadas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novamente.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tabLst>
                <a:tab pos="723900" algn="l"/>
                <a:tab pos="1582420" algn="l"/>
                <a:tab pos="3220720" algn="l"/>
                <a:tab pos="3963035" algn="l"/>
                <a:tab pos="4481195" algn="l"/>
                <a:tab pos="8037195" algn="l"/>
                <a:tab pos="8855710" algn="l"/>
              </a:tabLst>
            </a:pPr>
            <a:r>
              <a:rPr sz="2000" spc="-25" dirty="0">
                <a:latin typeface="Verdana"/>
                <a:cs typeface="Verdana"/>
              </a:rPr>
              <a:t>São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0" dirty="0">
                <a:latin typeface="Verdana"/>
                <a:cs typeface="Verdana"/>
              </a:rPr>
              <a:t>mais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otimizadas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5" dirty="0">
                <a:latin typeface="Verdana"/>
                <a:cs typeface="Verdana"/>
              </a:rPr>
              <a:t>que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5" dirty="0">
                <a:latin typeface="Verdana"/>
                <a:cs typeface="Verdana"/>
              </a:rPr>
              <a:t>as</a:t>
            </a:r>
            <a:r>
              <a:rPr sz="2000" dirty="0">
                <a:latin typeface="Verdana"/>
                <a:cs typeface="Verdana"/>
              </a:rPr>
              <a:t>	variáveis,</a:t>
            </a:r>
            <a:r>
              <a:rPr sz="2000" spc="49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recomendadas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0" dirty="0">
                <a:latin typeface="Verdana"/>
                <a:cs typeface="Verdana"/>
              </a:rPr>
              <a:t>para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0" dirty="0">
                <a:latin typeface="Verdana"/>
                <a:cs typeface="Verdana"/>
              </a:rPr>
              <a:t>usos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Verdana"/>
                <a:cs typeface="Verdana"/>
              </a:rPr>
              <a:t>frequentes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400"/>
              </a:spcBef>
            </a:pPr>
            <a:r>
              <a:rPr sz="2000" dirty="0">
                <a:latin typeface="Verdana"/>
                <a:cs typeface="Verdana"/>
              </a:rPr>
              <a:t>A</a:t>
            </a:r>
            <a:r>
              <a:rPr sz="2000" spc="1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definição</a:t>
            </a:r>
            <a:r>
              <a:rPr sz="2000" spc="1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1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constante</a:t>
            </a:r>
            <a:r>
              <a:rPr sz="2000" spc="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é</a:t>
            </a:r>
            <a:r>
              <a:rPr sz="2000" spc="1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dada</a:t>
            </a:r>
            <a:r>
              <a:rPr sz="2000" spc="1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pela</a:t>
            </a:r>
            <a:r>
              <a:rPr sz="2000" spc="1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palavra</a:t>
            </a:r>
            <a:r>
              <a:rPr sz="2000" spc="1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reservada</a:t>
            </a:r>
            <a:r>
              <a:rPr sz="2000" spc="10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const</a:t>
            </a:r>
            <a:r>
              <a:rPr sz="2000" b="1" spc="1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antes</a:t>
            </a:r>
            <a:r>
              <a:rPr sz="2000" spc="11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do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000" spc="-20" dirty="0">
                <a:latin typeface="Verdana"/>
                <a:cs typeface="Verdana"/>
              </a:rPr>
              <a:t>tipo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Caso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não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55" dirty="0">
                <a:latin typeface="Verdana"/>
                <a:cs typeface="Verdana"/>
              </a:rPr>
              <a:t>seja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informado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60" dirty="0">
                <a:latin typeface="Verdana"/>
                <a:cs typeface="Verdana"/>
              </a:rPr>
              <a:t>um</a:t>
            </a:r>
            <a:r>
              <a:rPr sz="2000" spc="40" dirty="0">
                <a:latin typeface="Verdana"/>
                <a:cs typeface="Verdana"/>
              </a:rPr>
              <a:t> </a:t>
            </a:r>
            <a:r>
              <a:rPr sz="2000" spc="-85" dirty="0">
                <a:latin typeface="Verdana"/>
                <a:cs typeface="Verdana"/>
              </a:rPr>
              <a:t>valor,</a:t>
            </a:r>
            <a:r>
              <a:rPr sz="2000" spc="-2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spc="-40" dirty="0">
                <a:latin typeface="Verdana"/>
                <a:cs typeface="Verdana"/>
              </a:rPr>
              <a:t>valor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padrão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35" dirty="0">
                <a:latin typeface="Verdana"/>
                <a:cs typeface="Verdana"/>
              </a:rPr>
              <a:t>será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atribuído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3085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Constantes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704339" y="4988329"/>
          <a:ext cx="6667499" cy="10483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7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54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0190">
                <a:tc>
                  <a:txBody>
                    <a:bodyPr/>
                    <a:lstStyle/>
                    <a:p>
                      <a:pPr marL="31750">
                        <a:lnSpc>
                          <a:spcPts val="1695"/>
                        </a:lnSpc>
                      </a:pPr>
                      <a:r>
                        <a:rPr sz="1800" b="1" spc="-10" dirty="0">
                          <a:latin typeface="Consolas"/>
                          <a:cs typeface="Consolas"/>
                        </a:rPr>
                        <a:t>const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95"/>
                        </a:lnSpc>
                      </a:pPr>
                      <a:r>
                        <a:rPr sz="1800" b="1" spc="-25" dirty="0">
                          <a:latin typeface="Consolas"/>
                          <a:cs typeface="Consolas"/>
                        </a:rPr>
                        <a:t>int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69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IDADE_MINIMA;</a:t>
                      </a:r>
                      <a:r>
                        <a:rPr sz="1800" b="1" spc="-9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//</a:t>
                      </a:r>
                      <a:r>
                        <a:rPr sz="1800" spc="-45" dirty="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10" dirty="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Errado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31750">
                        <a:lnSpc>
                          <a:spcPts val="1870"/>
                        </a:lnSpc>
                      </a:pPr>
                      <a:r>
                        <a:rPr sz="1800" b="1" spc="-10" dirty="0">
                          <a:latin typeface="Consolas"/>
                          <a:cs typeface="Consolas"/>
                        </a:rPr>
                        <a:t>const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0"/>
                        </a:lnSpc>
                      </a:pPr>
                      <a:r>
                        <a:rPr sz="1800" b="1" spc="-25" dirty="0">
                          <a:latin typeface="Consolas"/>
                          <a:cs typeface="Consolas"/>
                        </a:rPr>
                        <a:t>int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870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IDADE_MINIMA</a:t>
                      </a:r>
                      <a:r>
                        <a:rPr sz="1800" b="1" spc="-7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b="1" spc="-4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dirty="0">
                          <a:latin typeface="Consolas"/>
                          <a:cs typeface="Consolas"/>
                        </a:rPr>
                        <a:t>25;</a:t>
                      </a:r>
                      <a:r>
                        <a:rPr sz="1800" b="1" spc="-7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//</a:t>
                      </a:r>
                      <a:r>
                        <a:rPr sz="1800" spc="-45" dirty="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Correto</a:t>
                      </a:r>
                      <a:r>
                        <a:rPr sz="1800" spc="-40" dirty="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inicia</a:t>
                      </a:r>
                      <a:r>
                        <a:rPr sz="1800" spc="-60" dirty="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com</a:t>
                      </a:r>
                      <a:r>
                        <a:rPr sz="1800" spc="-50" dirty="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5" dirty="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25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spc="-10" dirty="0">
                          <a:latin typeface="Consolas"/>
                          <a:cs typeface="Consolas"/>
                        </a:rPr>
                        <a:t>const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</a:pPr>
                      <a:r>
                        <a:rPr sz="1800" b="1" spc="-25" dirty="0">
                          <a:latin typeface="Consolas"/>
                          <a:cs typeface="Consolas"/>
                        </a:rPr>
                        <a:t>var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IDADE_MINIMA</a:t>
                      </a:r>
                      <a:r>
                        <a:rPr sz="1800" b="1" spc="-7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b="1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dirty="0">
                          <a:latin typeface="Consolas"/>
                          <a:cs typeface="Consolas"/>
                        </a:rPr>
                        <a:t>25;</a:t>
                      </a:r>
                      <a:r>
                        <a:rPr sz="1800" b="1" spc="-3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//</a:t>
                      </a:r>
                      <a:r>
                        <a:rPr sz="1800" spc="-30" dirty="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10" dirty="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Errado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spc="-10" dirty="0">
                          <a:latin typeface="Consolas"/>
                          <a:cs typeface="Consolas"/>
                        </a:rPr>
                        <a:t>const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</a:pPr>
                      <a:r>
                        <a:rPr sz="1800" b="1" spc="-25" dirty="0">
                          <a:latin typeface="Consolas"/>
                          <a:cs typeface="Consolas"/>
                        </a:rPr>
                        <a:t>var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IDADE_MINIMA;</a:t>
                      </a:r>
                      <a:r>
                        <a:rPr sz="1800" b="1" spc="-7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//</a:t>
                      </a:r>
                      <a:r>
                        <a:rPr sz="1800" spc="-60" dirty="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10" dirty="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Errado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40923" y="1709927"/>
            <a:ext cx="166116" cy="18135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717675" y="1622297"/>
            <a:ext cx="868108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Verdana"/>
                <a:cs typeface="Verdana"/>
              </a:rPr>
              <a:t>Também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chamados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45" dirty="0">
                <a:latin typeface="Verdana"/>
                <a:cs typeface="Verdana"/>
              </a:rPr>
              <a:t>keywords,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são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45" dirty="0">
                <a:latin typeface="Verdana"/>
                <a:cs typeface="Verdana"/>
              </a:rPr>
              <a:t>palavras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uso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spc="-35" dirty="0">
                <a:latin typeface="Verdana"/>
                <a:cs typeface="Verdana"/>
              </a:rPr>
              <a:t>exclusivo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do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C </a:t>
            </a:r>
            <a:r>
              <a:rPr sz="2000" dirty="0">
                <a:latin typeface="Verdana"/>
                <a:cs typeface="Verdana"/>
              </a:rPr>
              <a:t>Não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podemos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utilizar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spc="50" dirty="0">
                <a:latin typeface="Verdana"/>
                <a:cs typeface="Verdana"/>
              </a:rPr>
              <a:t>como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nomes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variáveis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ou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constantes.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0" dirty="0"/>
              <a:t>Nomes</a:t>
            </a:r>
            <a:r>
              <a:rPr spc="-265" dirty="0"/>
              <a:t> </a:t>
            </a:r>
            <a:r>
              <a:rPr spc="-130" dirty="0"/>
              <a:t>Reservados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18460" y="2363723"/>
            <a:ext cx="6355080" cy="426110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40923" y="1709927"/>
            <a:ext cx="166116" cy="18135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717675" y="1622297"/>
            <a:ext cx="868108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Verdana"/>
                <a:cs typeface="Verdana"/>
              </a:rPr>
              <a:t>Também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chamados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45" dirty="0">
                <a:latin typeface="Verdana"/>
                <a:cs typeface="Verdana"/>
              </a:rPr>
              <a:t>keywords,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são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45" dirty="0">
                <a:latin typeface="Verdana"/>
                <a:cs typeface="Verdana"/>
              </a:rPr>
              <a:t>palavras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uso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spc="-35" dirty="0">
                <a:latin typeface="Verdana"/>
                <a:cs typeface="Verdana"/>
              </a:rPr>
              <a:t>exclusivo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do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C </a:t>
            </a:r>
            <a:r>
              <a:rPr sz="2000" dirty="0">
                <a:latin typeface="Verdana"/>
                <a:cs typeface="Verdana"/>
              </a:rPr>
              <a:t>Não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podemos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utilizar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spc="50" dirty="0">
                <a:latin typeface="Verdana"/>
                <a:cs typeface="Verdana"/>
              </a:rPr>
              <a:t>como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nomes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variáveis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ou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constantes.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0" dirty="0"/>
              <a:t>Nomes</a:t>
            </a:r>
            <a:r>
              <a:rPr spc="-265" dirty="0"/>
              <a:t> </a:t>
            </a:r>
            <a:r>
              <a:rPr spc="-130" dirty="0"/>
              <a:t>Reservados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07335" y="2441448"/>
            <a:ext cx="7577327" cy="164744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7675" y="1622297"/>
            <a:ext cx="8245475" cy="1245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669925">
              <a:lnSpc>
                <a:spcPct val="100000"/>
              </a:lnSpc>
              <a:spcBef>
                <a:spcPts val="105"/>
              </a:spcBef>
            </a:pPr>
            <a:r>
              <a:rPr sz="2000" spc="55" dirty="0">
                <a:latin typeface="Verdana"/>
                <a:cs typeface="Verdana"/>
              </a:rPr>
              <a:t>Em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spc="-35" dirty="0">
                <a:latin typeface="Verdana"/>
                <a:cs typeface="Verdana"/>
              </a:rPr>
              <a:t>diversos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cenários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você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precisará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35" dirty="0">
                <a:latin typeface="Verdana"/>
                <a:cs typeface="Verdana"/>
              </a:rPr>
              <a:t>deixar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uma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mensagem </a:t>
            </a:r>
            <a:r>
              <a:rPr sz="2000" dirty="0">
                <a:latin typeface="Verdana"/>
                <a:cs typeface="Verdana"/>
              </a:rPr>
              <a:t>Esta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mensagem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não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deve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spc="-35" dirty="0">
                <a:latin typeface="Verdana"/>
                <a:cs typeface="Verdana"/>
              </a:rPr>
              <a:t>ser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executada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pelo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programa</a:t>
            </a:r>
            <a:endParaRPr sz="20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É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75" dirty="0">
                <a:latin typeface="Verdana"/>
                <a:cs typeface="Verdana"/>
              </a:rPr>
              <a:t>comum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utilizarmos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comentários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em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linhas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que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não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desejamos </a:t>
            </a:r>
            <a:r>
              <a:rPr sz="2000" dirty="0">
                <a:latin typeface="Verdana"/>
                <a:cs typeface="Verdana"/>
              </a:rPr>
              <a:t>executar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também</a:t>
            </a:r>
            <a:r>
              <a:rPr sz="2000" spc="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podemos</a:t>
            </a:r>
            <a:r>
              <a:rPr sz="2000" spc="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ter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comentários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de: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3085">
              <a:lnSpc>
                <a:spcPct val="100000"/>
              </a:lnSpc>
              <a:spcBef>
                <a:spcPts val="100"/>
              </a:spcBef>
            </a:pPr>
            <a:r>
              <a:rPr spc="-110" dirty="0"/>
              <a:t>Comentários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427732" y="3223260"/>
            <a:ext cx="7336790" cy="2308860"/>
          </a:xfrm>
          <a:prstGeom prst="rect">
            <a:avLst/>
          </a:prstGeom>
          <a:solidFill>
            <a:srgbClr val="E7E6E6"/>
          </a:solidFill>
        </p:spPr>
        <p:txBody>
          <a:bodyPr vert="horz" wrap="square" lIns="0" tIns="431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40"/>
              </a:spcBef>
            </a:pPr>
            <a:endParaRPr sz="18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1800" b="1" dirty="0">
                <a:latin typeface="Consolas"/>
                <a:cs typeface="Consolas"/>
              </a:rPr>
              <a:t>//</a:t>
            </a:r>
            <a:r>
              <a:rPr sz="1800" b="1" spc="-55" dirty="0">
                <a:latin typeface="Consolas"/>
                <a:cs typeface="Consolas"/>
              </a:rPr>
              <a:t> </a:t>
            </a:r>
            <a:r>
              <a:rPr sz="1800" b="1" dirty="0">
                <a:latin typeface="Consolas"/>
                <a:cs typeface="Consolas"/>
              </a:rPr>
              <a:t>Comentário</a:t>
            </a:r>
            <a:r>
              <a:rPr sz="1800" b="1" spc="-45" dirty="0">
                <a:latin typeface="Consolas"/>
                <a:cs typeface="Consolas"/>
              </a:rPr>
              <a:t> </a:t>
            </a:r>
            <a:r>
              <a:rPr sz="1800" b="1" dirty="0">
                <a:latin typeface="Consolas"/>
                <a:cs typeface="Consolas"/>
              </a:rPr>
              <a:t>em</a:t>
            </a:r>
            <a:r>
              <a:rPr sz="1800" b="1" spc="-40" dirty="0">
                <a:latin typeface="Consolas"/>
                <a:cs typeface="Consolas"/>
              </a:rPr>
              <a:t> </a:t>
            </a:r>
            <a:r>
              <a:rPr sz="1800" b="1" dirty="0">
                <a:latin typeface="Consolas"/>
                <a:cs typeface="Consolas"/>
              </a:rPr>
              <a:t>uma</a:t>
            </a:r>
            <a:r>
              <a:rPr sz="1800" b="1" spc="-35" dirty="0">
                <a:latin typeface="Consolas"/>
                <a:cs typeface="Consolas"/>
              </a:rPr>
              <a:t> </a:t>
            </a:r>
            <a:r>
              <a:rPr sz="1800" b="1" spc="-20" dirty="0">
                <a:latin typeface="Consolas"/>
                <a:cs typeface="Consolas"/>
              </a:rPr>
              <a:t>linha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8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1800" b="1" spc="-25" dirty="0">
                <a:latin typeface="Consolas"/>
                <a:cs typeface="Consolas"/>
              </a:rPr>
              <a:t>/*</a:t>
            </a:r>
            <a:endParaRPr sz="1800">
              <a:latin typeface="Consolas"/>
              <a:cs typeface="Consolas"/>
            </a:endParaRPr>
          </a:p>
          <a:p>
            <a:pPr marL="1005840">
              <a:lnSpc>
                <a:spcPct val="100000"/>
              </a:lnSpc>
            </a:pPr>
            <a:r>
              <a:rPr sz="1800" b="1" dirty="0">
                <a:latin typeface="Consolas"/>
                <a:cs typeface="Consolas"/>
              </a:rPr>
              <a:t>Comentário</a:t>
            </a:r>
            <a:r>
              <a:rPr sz="1800" b="1" spc="-75" dirty="0">
                <a:latin typeface="Consolas"/>
                <a:cs typeface="Consolas"/>
              </a:rPr>
              <a:t> </a:t>
            </a:r>
            <a:r>
              <a:rPr sz="1800" b="1" dirty="0">
                <a:latin typeface="Consolas"/>
                <a:cs typeface="Consolas"/>
              </a:rPr>
              <a:t>em</a:t>
            </a:r>
            <a:r>
              <a:rPr sz="1800" b="1" spc="-65" dirty="0">
                <a:latin typeface="Consolas"/>
                <a:cs typeface="Consolas"/>
              </a:rPr>
              <a:t> </a:t>
            </a:r>
            <a:r>
              <a:rPr sz="1800" b="1" spc="-10" dirty="0">
                <a:latin typeface="Consolas"/>
                <a:cs typeface="Consolas"/>
              </a:rPr>
              <a:t>várias</a:t>
            </a:r>
            <a:endParaRPr sz="1800">
              <a:latin typeface="Consolas"/>
              <a:cs typeface="Consolas"/>
            </a:endParaRPr>
          </a:p>
          <a:p>
            <a:pPr marL="1005840">
              <a:lnSpc>
                <a:spcPct val="100000"/>
              </a:lnSpc>
            </a:pPr>
            <a:r>
              <a:rPr sz="1800" b="1" spc="-10" dirty="0">
                <a:latin typeface="Consolas"/>
                <a:cs typeface="Consolas"/>
              </a:rPr>
              <a:t>linhas</a:t>
            </a:r>
            <a:endParaRPr sz="18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1800" b="1" spc="-25" dirty="0">
                <a:latin typeface="Consolas"/>
                <a:cs typeface="Consolas"/>
              </a:rPr>
              <a:t>*/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7675" y="2125218"/>
            <a:ext cx="831469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60" dirty="0">
                <a:latin typeface="Verdana"/>
                <a:cs typeface="Verdana"/>
              </a:rPr>
              <a:t>Um</a:t>
            </a:r>
            <a:r>
              <a:rPr sz="2000" spc="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programa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computador</a:t>
            </a:r>
            <a:r>
              <a:rPr sz="2000" spc="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é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capaz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 </a:t>
            </a:r>
            <a:r>
              <a:rPr sz="2000" spc="-35" dirty="0">
                <a:latin typeface="Verdana"/>
                <a:cs typeface="Verdana"/>
              </a:rPr>
              <a:t>realizar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essencialmente </a:t>
            </a:r>
            <a:r>
              <a:rPr sz="2000" spc="-30" dirty="0">
                <a:latin typeface="Verdana"/>
                <a:cs typeface="Verdana"/>
              </a:rPr>
              <a:t>três</a:t>
            </a:r>
            <a:r>
              <a:rPr sz="2000" spc="-18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operações: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/>
          <p:nvPr/>
        </p:nvSpPr>
        <p:spPr>
          <a:xfrm>
            <a:off x="1717675" y="835278"/>
            <a:ext cx="711771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b="1" spc="-110" dirty="0">
                <a:latin typeface="Verdana"/>
                <a:cs typeface="Verdana"/>
              </a:rPr>
              <a:t>As</a:t>
            </a:r>
            <a:r>
              <a:rPr sz="3600" b="1" spc="-280" dirty="0">
                <a:latin typeface="Verdana"/>
                <a:cs typeface="Verdana"/>
              </a:rPr>
              <a:t> </a:t>
            </a:r>
            <a:r>
              <a:rPr sz="3600" b="1" spc="-175" dirty="0">
                <a:latin typeface="Verdana"/>
                <a:cs typeface="Verdana"/>
              </a:rPr>
              <a:t>Três</a:t>
            </a:r>
            <a:r>
              <a:rPr sz="3600" b="1" spc="-360" dirty="0">
                <a:latin typeface="Verdana"/>
                <a:cs typeface="Verdana"/>
              </a:rPr>
              <a:t> </a:t>
            </a:r>
            <a:r>
              <a:rPr sz="3600" b="1" spc="-130" dirty="0">
                <a:latin typeface="Verdana"/>
                <a:cs typeface="Verdana"/>
              </a:rPr>
              <a:t>Operações</a:t>
            </a:r>
            <a:r>
              <a:rPr sz="3600" b="1" spc="-265" dirty="0">
                <a:latin typeface="Verdana"/>
                <a:cs typeface="Verdana"/>
              </a:rPr>
              <a:t> </a:t>
            </a:r>
            <a:r>
              <a:rPr sz="3600" b="1" spc="-150" dirty="0">
                <a:latin typeface="Verdana"/>
                <a:cs typeface="Verdana"/>
              </a:rPr>
              <a:t>Básicas</a:t>
            </a:r>
            <a:r>
              <a:rPr sz="3600" b="1" spc="-325" dirty="0">
                <a:latin typeface="Verdana"/>
                <a:cs typeface="Verdana"/>
              </a:rPr>
              <a:t> </a:t>
            </a:r>
            <a:r>
              <a:rPr sz="3600" b="1" spc="-25" dirty="0">
                <a:latin typeface="Verdana"/>
                <a:cs typeface="Verdana"/>
              </a:rPr>
              <a:t>de </a:t>
            </a:r>
            <a:r>
              <a:rPr sz="3600" b="1" spc="-10" dirty="0">
                <a:latin typeface="Verdana"/>
                <a:cs typeface="Verdana"/>
              </a:rPr>
              <a:t>Programação</a:t>
            </a:r>
            <a:endParaRPr sz="36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1132" y="2892551"/>
            <a:ext cx="6269736" cy="233629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4355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Entrada</a:t>
            </a:r>
            <a:r>
              <a:rPr spc="-385" dirty="0"/>
              <a:t> </a:t>
            </a:r>
            <a:r>
              <a:rPr spc="-10" dirty="0"/>
              <a:t>de</a:t>
            </a:r>
            <a:r>
              <a:rPr spc="-260" dirty="0"/>
              <a:t> </a:t>
            </a:r>
            <a:r>
              <a:rPr spc="-10" dirty="0"/>
              <a:t>Dados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7732" y="2837688"/>
            <a:ext cx="3276600" cy="123443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6713219" y="1833372"/>
            <a:ext cx="3406140" cy="3235960"/>
            <a:chOff x="6713219" y="1833372"/>
            <a:chExt cx="3406140" cy="323596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13219" y="1833372"/>
              <a:ext cx="3406139" cy="81686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06055" y="2660904"/>
              <a:ext cx="2220468" cy="240792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717675" y="1497838"/>
            <a:ext cx="8166100" cy="11176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Verdana"/>
                <a:cs typeface="Verdana"/>
              </a:rPr>
              <a:t>Também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chamada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spc="-65" dirty="0">
                <a:latin typeface="Verdana"/>
                <a:cs typeface="Verdana"/>
              </a:rPr>
              <a:t>LEITURA: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30" dirty="0">
                <a:latin typeface="Verdana"/>
                <a:cs typeface="Verdana"/>
              </a:rPr>
              <a:t>"O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programa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está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lendo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dados."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360"/>
              </a:spcBef>
            </a:pPr>
            <a:endParaRPr sz="2000">
              <a:latin typeface="Verdana"/>
              <a:cs typeface="Verdana"/>
            </a:endParaRPr>
          </a:p>
          <a:p>
            <a:pPr marL="103886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Dispositivo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ENTRADA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73952" y="4789932"/>
            <a:ext cx="164592" cy="18135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708530" y="4702555"/>
            <a:ext cx="5699760" cy="18694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Verdana"/>
                <a:cs typeface="Verdana"/>
              </a:rPr>
              <a:t>Comando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leitura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entrada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em</a:t>
            </a:r>
            <a:r>
              <a:rPr sz="2000" spc="45" dirty="0">
                <a:latin typeface="Verdana"/>
                <a:cs typeface="Verdana"/>
              </a:rPr>
              <a:t> </a:t>
            </a:r>
            <a:r>
              <a:rPr sz="2000" spc="-894" dirty="0">
                <a:latin typeface="Verdana"/>
                <a:cs typeface="Verdana"/>
              </a:rPr>
              <a:t>C</a:t>
            </a:r>
            <a:r>
              <a:rPr sz="2000" spc="-35" dirty="0">
                <a:latin typeface="Verdana"/>
                <a:cs typeface="Verdana"/>
              </a:rPr>
              <a:t>:</a:t>
            </a:r>
            <a:endParaRPr sz="2000">
              <a:latin typeface="Verdana"/>
              <a:cs typeface="Verdana"/>
            </a:endParaRPr>
          </a:p>
          <a:p>
            <a:pPr marL="21590">
              <a:lnSpc>
                <a:spcPct val="100000"/>
              </a:lnSpc>
              <a:spcBef>
                <a:spcPts val="2305"/>
              </a:spcBef>
            </a:pPr>
            <a:r>
              <a:rPr sz="2000" spc="-10" dirty="0">
                <a:latin typeface="Consolas"/>
                <a:cs typeface="Consolas"/>
              </a:rPr>
              <a:t>Console.ReadLine();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2000">
              <a:latin typeface="Consolas"/>
              <a:cs typeface="Consolas"/>
            </a:endParaRPr>
          </a:p>
          <a:p>
            <a:pPr marL="162560" indent="-150495">
              <a:lnSpc>
                <a:spcPct val="100000"/>
              </a:lnSpc>
              <a:buChar char="•"/>
              <a:tabLst>
                <a:tab pos="162560" algn="l"/>
              </a:tabLst>
            </a:pPr>
            <a:r>
              <a:rPr sz="2000" dirty="0">
                <a:latin typeface="Verdana"/>
                <a:cs typeface="Verdana"/>
              </a:rPr>
              <a:t>Lê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da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entrada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padrão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até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quebra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linha.</a:t>
            </a:r>
            <a:endParaRPr sz="2000">
              <a:latin typeface="Verdana"/>
              <a:cs typeface="Verdana"/>
            </a:endParaRPr>
          </a:p>
          <a:p>
            <a:pPr marL="163195" indent="-150495">
              <a:lnSpc>
                <a:spcPct val="100000"/>
              </a:lnSpc>
              <a:buChar char="•"/>
              <a:tabLst>
                <a:tab pos="163195" algn="l"/>
              </a:tabLst>
            </a:pPr>
            <a:r>
              <a:rPr sz="2000" spc="-10" dirty="0">
                <a:latin typeface="Verdana"/>
                <a:cs typeface="Verdana"/>
              </a:rPr>
              <a:t>Retorna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os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dados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lidos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na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forma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string.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17675" y="834339"/>
            <a:ext cx="61048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Processamento</a:t>
            </a:r>
            <a:r>
              <a:rPr spc="-254" dirty="0"/>
              <a:t> </a:t>
            </a:r>
            <a:r>
              <a:rPr dirty="0"/>
              <a:t>de</a:t>
            </a:r>
            <a:r>
              <a:rPr spc="-250" dirty="0"/>
              <a:t> </a:t>
            </a:r>
            <a:r>
              <a:rPr spc="-25" dirty="0"/>
              <a:t>dados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17675" y="1497838"/>
            <a:ext cx="50952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Verdana"/>
                <a:cs typeface="Verdana"/>
              </a:rPr>
              <a:t>É quando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programa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35" dirty="0">
                <a:latin typeface="Verdana"/>
                <a:cs typeface="Verdana"/>
              </a:rPr>
              <a:t>realiza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os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cálculos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82667" y="1874520"/>
            <a:ext cx="3026664" cy="279806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717675" y="4692141"/>
            <a:ext cx="7827645" cy="9315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Verdana"/>
                <a:cs typeface="Verdana"/>
              </a:rPr>
              <a:t>O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processamento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dados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dá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por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60" dirty="0">
                <a:latin typeface="Verdana"/>
                <a:cs typeface="Verdana"/>
              </a:rPr>
              <a:t>um</a:t>
            </a:r>
            <a:r>
              <a:rPr sz="2000" spc="35" dirty="0">
                <a:latin typeface="Verdana"/>
                <a:cs typeface="Verdana"/>
              </a:rPr>
              <a:t> </a:t>
            </a:r>
            <a:r>
              <a:rPr sz="2000" spc="50" dirty="0">
                <a:latin typeface="Verdana"/>
                <a:cs typeface="Verdana"/>
              </a:rPr>
              <a:t>comando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chamado.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330"/>
              </a:spcBef>
            </a:pPr>
            <a:r>
              <a:rPr sz="2000" b="1" spc="-20" dirty="0">
                <a:latin typeface="Verdana"/>
                <a:cs typeface="Verdana"/>
              </a:rPr>
              <a:t>ATRIBUIÇÃO</a:t>
            </a:r>
            <a:r>
              <a:rPr sz="2000" b="1" spc="-210" dirty="0">
                <a:latin typeface="Verdana"/>
                <a:cs typeface="Verdana"/>
              </a:rPr>
              <a:t> </a:t>
            </a:r>
            <a:r>
              <a:rPr sz="2000" dirty="0">
                <a:latin typeface="Consolas"/>
                <a:cs typeface="Consolas"/>
              </a:rPr>
              <a:t>media</a:t>
            </a:r>
            <a:r>
              <a:rPr sz="2000" spc="-2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=</a:t>
            </a:r>
            <a:r>
              <a:rPr sz="2000" spc="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(x</a:t>
            </a:r>
            <a:r>
              <a:rPr sz="2000" spc="-1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+</a:t>
            </a:r>
            <a:r>
              <a:rPr sz="2000" spc="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y)</a:t>
            </a:r>
            <a:r>
              <a:rPr sz="2000" spc="-1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/</a:t>
            </a:r>
            <a:r>
              <a:rPr sz="2000" spc="20" dirty="0">
                <a:latin typeface="Consolas"/>
                <a:cs typeface="Consolas"/>
              </a:rPr>
              <a:t> </a:t>
            </a:r>
            <a:r>
              <a:rPr sz="2000" spc="-20" dirty="0">
                <a:latin typeface="Consolas"/>
                <a:cs typeface="Consolas"/>
              </a:rPr>
              <a:t>4.0;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17675" y="834339"/>
            <a:ext cx="61048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Processamento</a:t>
            </a:r>
            <a:r>
              <a:rPr spc="-254" dirty="0"/>
              <a:t> </a:t>
            </a:r>
            <a:r>
              <a:rPr dirty="0"/>
              <a:t>de</a:t>
            </a:r>
            <a:r>
              <a:rPr spc="-250" dirty="0"/>
              <a:t> </a:t>
            </a:r>
            <a:r>
              <a:rPr spc="-25" dirty="0"/>
              <a:t>dados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17675" y="1497838"/>
            <a:ext cx="6993890" cy="3679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Verdana"/>
                <a:cs typeface="Verdana"/>
              </a:rPr>
              <a:t>Comando</a:t>
            </a:r>
            <a:r>
              <a:rPr sz="2000" b="1" spc="-160" dirty="0">
                <a:latin typeface="Verdana"/>
                <a:cs typeface="Verdana"/>
              </a:rPr>
              <a:t> </a:t>
            </a:r>
            <a:r>
              <a:rPr sz="2000" b="1" spc="-30" dirty="0">
                <a:latin typeface="Verdana"/>
                <a:cs typeface="Verdana"/>
              </a:rPr>
              <a:t>de</a:t>
            </a:r>
            <a:r>
              <a:rPr sz="2000" b="1" spc="-140" dirty="0">
                <a:latin typeface="Verdana"/>
                <a:cs typeface="Verdana"/>
              </a:rPr>
              <a:t> </a:t>
            </a:r>
            <a:r>
              <a:rPr sz="2000" b="1" spc="-10" dirty="0">
                <a:latin typeface="Verdana"/>
                <a:cs typeface="Verdana"/>
              </a:rPr>
              <a:t>atribuição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285"/>
              </a:spcBef>
            </a:pPr>
            <a:r>
              <a:rPr sz="2000" b="1" dirty="0">
                <a:latin typeface="Verdana"/>
                <a:cs typeface="Verdana"/>
              </a:rPr>
              <a:t>Sintaxe:</a:t>
            </a:r>
            <a:r>
              <a:rPr sz="2000" b="1" spc="10" dirty="0"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&lt;variável&gt;</a:t>
            </a:r>
            <a:r>
              <a:rPr sz="2000" spc="-14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=</a:t>
            </a:r>
            <a:r>
              <a:rPr sz="2000" spc="-40" dirty="0"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onsolas"/>
                <a:cs typeface="Consolas"/>
              </a:rPr>
              <a:t>&lt;expressão&gt;</a:t>
            </a:r>
            <a:r>
              <a:rPr sz="2000" spc="-10" dirty="0">
                <a:latin typeface="Consolas"/>
                <a:cs typeface="Consolas"/>
              </a:rPr>
              <a:t>;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latin typeface="Verdana"/>
                <a:cs typeface="Verdana"/>
              </a:rPr>
              <a:t>Lê-</a:t>
            </a:r>
            <a:r>
              <a:rPr sz="2000" spc="-20" dirty="0">
                <a:latin typeface="Verdana"/>
                <a:cs typeface="Verdana"/>
              </a:rPr>
              <a:t>se</a:t>
            </a:r>
            <a:r>
              <a:rPr sz="2000" spc="-19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“recebe”</a:t>
            </a:r>
            <a:endParaRPr sz="2000">
              <a:latin typeface="Verdana"/>
              <a:cs typeface="Verdana"/>
            </a:endParaRPr>
          </a:p>
          <a:p>
            <a:pPr marL="12700" marR="3973829">
              <a:lnSpc>
                <a:spcPts val="4800"/>
              </a:lnSpc>
              <a:spcBef>
                <a:spcPts val="275"/>
              </a:spcBef>
            </a:pPr>
            <a:r>
              <a:rPr sz="2000" b="1" dirty="0">
                <a:latin typeface="Consolas"/>
                <a:cs typeface="Consolas"/>
              </a:rPr>
              <a:t>media</a:t>
            </a:r>
            <a:r>
              <a:rPr sz="2000" b="1" spc="-45" dirty="0">
                <a:latin typeface="Consolas"/>
                <a:cs typeface="Consolas"/>
              </a:rPr>
              <a:t> </a:t>
            </a:r>
            <a:r>
              <a:rPr sz="2000" b="1" dirty="0">
                <a:latin typeface="Consolas"/>
                <a:cs typeface="Consolas"/>
              </a:rPr>
              <a:t>=</a:t>
            </a:r>
            <a:r>
              <a:rPr sz="2000" b="1" spc="-10" dirty="0">
                <a:latin typeface="Consolas"/>
                <a:cs typeface="Consolas"/>
              </a:rPr>
              <a:t> </a:t>
            </a:r>
            <a:r>
              <a:rPr sz="2000" b="1" dirty="0">
                <a:latin typeface="Consolas"/>
                <a:cs typeface="Consolas"/>
              </a:rPr>
              <a:t>(x</a:t>
            </a:r>
            <a:r>
              <a:rPr sz="2000" b="1" spc="-20" dirty="0">
                <a:latin typeface="Consolas"/>
                <a:cs typeface="Consolas"/>
              </a:rPr>
              <a:t> </a:t>
            </a:r>
            <a:r>
              <a:rPr sz="2000" b="1" dirty="0">
                <a:latin typeface="Consolas"/>
                <a:cs typeface="Consolas"/>
              </a:rPr>
              <a:t>+</a:t>
            </a:r>
            <a:r>
              <a:rPr sz="2000" b="1" spc="5" dirty="0">
                <a:latin typeface="Consolas"/>
                <a:cs typeface="Consolas"/>
              </a:rPr>
              <a:t> </a:t>
            </a:r>
            <a:r>
              <a:rPr sz="2000" b="1" dirty="0">
                <a:latin typeface="Consolas"/>
                <a:cs typeface="Consolas"/>
              </a:rPr>
              <a:t>y)</a:t>
            </a:r>
            <a:r>
              <a:rPr sz="2000" b="1" spc="-20" dirty="0">
                <a:latin typeface="Consolas"/>
                <a:cs typeface="Consolas"/>
              </a:rPr>
              <a:t> </a:t>
            </a:r>
            <a:r>
              <a:rPr sz="2000" b="1" dirty="0">
                <a:latin typeface="Consolas"/>
                <a:cs typeface="Consolas"/>
              </a:rPr>
              <a:t>/</a:t>
            </a:r>
            <a:r>
              <a:rPr sz="2000" b="1" spc="-10" dirty="0">
                <a:latin typeface="Consolas"/>
                <a:cs typeface="Consolas"/>
              </a:rPr>
              <a:t> </a:t>
            </a:r>
            <a:r>
              <a:rPr sz="2000" b="1" spc="-90" dirty="0">
                <a:latin typeface="Consolas"/>
                <a:cs typeface="Consolas"/>
              </a:rPr>
              <a:t>4.0</a:t>
            </a:r>
            <a:r>
              <a:rPr sz="2000" spc="-90" dirty="0">
                <a:latin typeface="Verdana"/>
                <a:cs typeface="Verdana"/>
              </a:rPr>
              <a:t>; </a:t>
            </a:r>
            <a:r>
              <a:rPr sz="2000" spc="-10" dirty="0">
                <a:latin typeface="Verdana"/>
                <a:cs typeface="Verdana"/>
              </a:rPr>
              <a:t>Regra:</a:t>
            </a:r>
            <a:endParaRPr sz="2000">
              <a:latin typeface="Verdana"/>
              <a:cs typeface="Verdana"/>
            </a:endParaRPr>
          </a:p>
          <a:p>
            <a:pPr marL="467995" indent="-455295">
              <a:lnSpc>
                <a:spcPct val="100000"/>
              </a:lnSpc>
              <a:spcBef>
                <a:spcPts val="2020"/>
              </a:spcBef>
              <a:buAutoNum type="arabicPeriod"/>
              <a:tabLst>
                <a:tab pos="467995" algn="l"/>
              </a:tabLst>
            </a:pPr>
            <a:r>
              <a:rPr sz="2000" dirty="0">
                <a:latin typeface="Verdana"/>
                <a:cs typeface="Verdana"/>
              </a:rPr>
              <a:t>A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spc="-35" dirty="0">
                <a:latin typeface="Verdana"/>
                <a:cs typeface="Verdana"/>
              </a:rPr>
              <a:t>expressão</a:t>
            </a:r>
            <a:r>
              <a:rPr sz="2000" spc="-2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é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calculada</a:t>
            </a:r>
            <a:endParaRPr sz="2000">
              <a:latin typeface="Verdana"/>
              <a:cs typeface="Verdana"/>
            </a:endParaRPr>
          </a:p>
          <a:p>
            <a:pPr marL="467995" indent="-455295">
              <a:lnSpc>
                <a:spcPct val="100000"/>
              </a:lnSpc>
              <a:buAutoNum type="arabicPeriod"/>
              <a:tabLst>
                <a:tab pos="467995" algn="l"/>
              </a:tabLst>
            </a:pPr>
            <a:r>
              <a:rPr sz="2000" dirty="0">
                <a:latin typeface="Verdana"/>
                <a:cs typeface="Verdana"/>
              </a:rPr>
              <a:t>O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resultado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da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-35" dirty="0">
                <a:latin typeface="Verdana"/>
                <a:cs typeface="Verdana"/>
              </a:rPr>
              <a:t>expressão</a:t>
            </a:r>
            <a:r>
              <a:rPr sz="2000" spc="-1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é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armazenado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na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variável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7675" y="2017013"/>
            <a:ext cx="3115945" cy="33305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75" dirty="0">
                <a:latin typeface="Verdana"/>
                <a:cs typeface="Verdana"/>
              </a:rPr>
              <a:t>Área</a:t>
            </a:r>
            <a:r>
              <a:rPr sz="2000" b="1" spc="-210" dirty="0">
                <a:latin typeface="Verdana"/>
                <a:cs typeface="Verdana"/>
              </a:rPr>
              <a:t> </a:t>
            </a:r>
            <a:r>
              <a:rPr sz="2000" b="1" spc="-30" dirty="0">
                <a:latin typeface="Verdana"/>
                <a:cs typeface="Verdana"/>
              </a:rPr>
              <a:t>do</a:t>
            </a:r>
            <a:r>
              <a:rPr sz="2000" b="1" spc="-145" dirty="0">
                <a:latin typeface="Verdana"/>
                <a:cs typeface="Verdana"/>
              </a:rPr>
              <a:t> </a:t>
            </a:r>
            <a:r>
              <a:rPr sz="2000" b="1" spc="-10" dirty="0">
                <a:latin typeface="Verdana"/>
                <a:cs typeface="Verdana"/>
              </a:rPr>
              <a:t>Trapézio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400"/>
              </a:spcBef>
            </a:pPr>
            <a:r>
              <a:rPr sz="2000" dirty="0">
                <a:latin typeface="Verdana"/>
                <a:cs typeface="Verdana"/>
              </a:rPr>
              <a:t>double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spc="-55" dirty="0">
                <a:latin typeface="Verdana"/>
                <a:cs typeface="Verdana"/>
              </a:rPr>
              <a:t>b,</a:t>
            </a:r>
            <a:r>
              <a:rPr sz="2000" spc="-245" dirty="0"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B,</a:t>
            </a:r>
            <a:r>
              <a:rPr sz="2000" spc="-185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h,</a:t>
            </a:r>
            <a:r>
              <a:rPr sz="2000" spc="-254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area;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400"/>
              </a:spcBef>
            </a:pPr>
            <a:r>
              <a:rPr sz="2000" dirty="0">
                <a:latin typeface="Verdana"/>
                <a:cs typeface="Verdana"/>
              </a:rPr>
              <a:t>b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=6;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B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=8;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h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=5;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014"/>
              </a:spcBef>
            </a:pPr>
            <a:r>
              <a:rPr sz="2000" spc="-40" dirty="0">
                <a:latin typeface="Verdana"/>
                <a:cs typeface="Verdana"/>
              </a:rPr>
              <a:t>area</a:t>
            </a:r>
            <a:r>
              <a:rPr sz="2000" spc="-200" dirty="0">
                <a:latin typeface="Verdana"/>
                <a:cs typeface="Verdana"/>
              </a:rPr>
              <a:t> </a:t>
            </a:r>
            <a:r>
              <a:rPr sz="2000" spc="-35" dirty="0">
                <a:latin typeface="Verdana"/>
                <a:cs typeface="Verdana"/>
              </a:rPr>
              <a:t>=(b</a:t>
            </a:r>
            <a:r>
              <a:rPr sz="2000" spc="-250" dirty="0">
                <a:latin typeface="Verdana"/>
                <a:cs typeface="Verdana"/>
              </a:rPr>
              <a:t> </a:t>
            </a:r>
            <a:r>
              <a:rPr sz="2000" spc="-35" dirty="0">
                <a:latin typeface="Verdana"/>
                <a:cs typeface="Verdana"/>
              </a:rPr>
              <a:t>+B)</a:t>
            </a:r>
            <a:r>
              <a:rPr sz="2000" spc="-2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*h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/</a:t>
            </a:r>
            <a:r>
              <a:rPr sz="2000" spc="-41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2;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405"/>
              </a:spcBef>
            </a:pPr>
            <a:r>
              <a:rPr sz="2000" spc="-45" dirty="0">
                <a:latin typeface="Verdana"/>
                <a:cs typeface="Verdana"/>
              </a:rPr>
              <a:t>Console.WriteLine(area);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717039" y="835278"/>
            <a:ext cx="21393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Exemplo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8023" y="819911"/>
            <a:ext cx="4091939" cy="521512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7675" y="2167889"/>
            <a:ext cx="3134360" cy="3379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65" dirty="0">
                <a:latin typeface="Verdana"/>
                <a:cs typeface="Verdana"/>
              </a:rPr>
              <a:t>Área</a:t>
            </a:r>
            <a:r>
              <a:rPr sz="2000" b="1" spc="-225" dirty="0">
                <a:latin typeface="Verdana"/>
                <a:cs typeface="Verdana"/>
              </a:rPr>
              <a:t> </a:t>
            </a:r>
            <a:r>
              <a:rPr sz="2000" b="1" spc="-10" dirty="0">
                <a:latin typeface="Verdana"/>
                <a:cs typeface="Verdana"/>
              </a:rPr>
              <a:t>do</a:t>
            </a:r>
            <a:r>
              <a:rPr sz="2000" b="1" spc="-160" dirty="0">
                <a:latin typeface="Verdana"/>
                <a:cs typeface="Verdana"/>
              </a:rPr>
              <a:t> </a:t>
            </a:r>
            <a:r>
              <a:rPr sz="2000" b="1" spc="-10" dirty="0">
                <a:latin typeface="Verdana"/>
                <a:cs typeface="Verdana"/>
              </a:rPr>
              <a:t>Trapézio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400"/>
              </a:spcBef>
            </a:pPr>
            <a:r>
              <a:rPr sz="2000" dirty="0">
                <a:latin typeface="Verdana"/>
                <a:cs typeface="Verdana"/>
              </a:rPr>
              <a:t>double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spc="-55" dirty="0">
                <a:latin typeface="Verdana"/>
                <a:cs typeface="Verdana"/>
              </a:rPr>
              <a:t>b,</a:t>
            </a:r>
            <a:r>
              <a:rPr sz="2000" spc="-229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B,</a:t>
            </a:r>
            <a:r>
              <a:rPr sz="2000" spc="-175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h,</a:t>
            </a:r>
            <a:r>
              <a:rPr sz="2000" spc="-24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area;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400"/>
              </a:spcBef>
            </a:pPr>
            <a:r>
              <a:rPr sz="2000" dirty="0">
                <a:latin typeface="Verdana"/>
                <a:cs typeface="Verdana"/>
              </a:rPr>
              <a:t>b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=6.0;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B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=8.0;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h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=5.0;</a:t>
            </a:r>
            <a:endParaRPr sz="2000">
              <a:latin typeface="Verdana"/>
              <a:cs typeface="Verdana"/>
            </a:endParaRPr>
          </a:p>
          <a:p>
            <a:pPr marL="12700" marR="5080">
              <a:lnSpc>
                <a:spcPct val="200000"/>
              </a:lnSpc>
            </a:pPr>
            <a:r>
              <a:rPr sz="2000" spc="-40" dirty="0">
                <a:latin typeface="Verdana"/>
                <a:cs typeface="Verdana"/>
              </a:rPr>
              <a:t>area</a:t>
            </a:r>
            <a:r>
              <a:rPr sz="2000" spc="-200" dirty="0">
                <a:latin typeface="Verdana"/>
                <a:cs typeface="Verdana"/>
              </a:rPr>
              <a:t> </a:t>
            </a:r>
            <a:r>
              <a:rPr sz="2000" spc="-35" dirty="0">
                <a:latin typeface="Verdana"/>
                <a:cs typeface="Verdana"/>
              </a:rPr>
              <a:t>=(b</a:t>
            </a:r>
            <a:r>
              <a:rPr sz="2000" spc="-245" dirty="0">
                <a:latin typeface="Verdana"/>
                <a:cs typeface="Verdana"/>
              </a:rPr>
              <a:t> </a:t>
            </a:r>
            <a:r>
              <a:rPr sz="2000" spc="-30" dirty="0">
                <a:latin typeface="Verdana"/>
                <a:cs typeface="Verdana"/>
              </a:rPr>
              <a:t>+B)</a:t>
            </a:r>
            <a:r>
              <a:rPr sz="2000" spc="-2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*h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/</a:t>
            </a:r>
            <a:r>
              <a:rPr sz="2000" spc="-42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2.0; </a:t>
            </a:r>
            <a:r>
              <a:rPr sz="2000" spc="-40" dirty="0">
                <a:latin typeface="Verdana"/>
                <a:cs typeface="Verdana"/>
              </a:rPr>
              <a:t>Console.WriteLine(area);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717675" y="835278"/>
            <a:ext cx="3288029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Exemplo </a:t>
            </a:r>
            <a:r>
              <a:rPr spc="-140" dirty="0"/>
              <a:t>Boas</a:t>
            </a:r>
            <a:r>
              <a:rPr spc="-320" dirty="0"/>
              <a:t> </a:t>
            </a:r>
            <a:r>
              <a:rPr spc="-105" dirty="0"/>
              <a:t>Práticas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74507" y="178307"/>
            <a:ext cx="2234183" cy="2738628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7147559" y="3092195"/>
            <a:ext cx="3741420" cy="2921635"/>
            <a:chOff x="7147559" y="3092195"/>
            <a:chExt cx="3741420" cy="292163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47559" y="3092195"/>
              <a:ext cx="3741420" cy="292150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11567" y="3156203"/>
              <a:ext cx="3563112" cy="27432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192517" y="3137153"/>
              <a:ext cx="3602354" cy="2781300"/>
            </a:xfrm>
            <a:custGeom>
              <a:avLst/>
              <a:gdLst/>
              <a:ahLst/>
              <a:cxnLst/>
              <a:rect l="l" t="t" r="r" b="b"/>
              <a:pathLst>
                <a:path w="3602354" h="2781300">
                  <a:moveTo>
                    <a:pt x="0" y="2781300"/>
                  </a:moveTo>
                  <a:lnTo>
                    <a:pt x="3602228" y="2781300"/>
                  </a:lnTo>
                  <a:lnTo>
                    <a:pt x="3602228" y="0"/>
                  </a:lnTo>
                  <a:lnTo>
                    <a:pt x="0" y="0"/>
                  </a:lnTo>
                  <a:lnTo>
                    <a:pt x="0" y="278130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7675" y="2167889"/>
            <a:ext cx="3134360" cy="3379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65" dirty="0">
                <a:latin typeface="Verdana"/>
                <a:cs typeface="Verdana"/>
              </a:rPr>
              <a:t>Área</a:t>
            </a:r>
            <a:r>
              <a:rPr sz="2000" b="1" spc="-225" dirty="0">
                <a:latin typeface="Verdana"/>
                <a:cs typeface="Verdana"/>
              </a:rPr>
              <a:t> </a:t>
            </a:r>
            <a:r>
              <a:rPr sz="2000" b="1" spc="-10" dirty="0">
                <a:latin typeface="Verdana"/>
                <a:cs typeface="Verdana"/>
              </a:rPr>
              <a:t>do</a:t>
            </a:r>
            <a:r>
              <a:rPr sz="2000" b="1" spc="-160" dirty="0">
                <a:latin typeface="Verdana"/>
                <a:cs typeface="Verdana"/>
              </a:rPr>
              <a:t> </a:t>
            </a:r>
            <a:r>
              <a:rPr sz="2000" b="1" spc="-10" dirty="0">
                <a:latin typeface="Verdana"/>
                <a:cs typeface="Verdana"/>
              </a:rPr>
              <a:t>Trapézio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400"/>
              </a:spcBef>
            </a:pPr>
            <a:r>
              <a:rPr sz="2000" spc="-10" dirty="0">
                <a:latin typeface="Verdana"/>
                <a:cs typeface="Verdana"/>
              </a:rPr>
              <a:t>float</a:t>
            </a:r>
            <a:r>
              <a:rPr sz="2000" spc="-210" dirty="0">
                <a:latin typeface="Verdana"/>
                <a:cs typeface="Verdana"/>
              </a:rPr>
              <a:t> </a:t>
            </a:r>
            <a:r>
              <a:rPr sz="2000" spc="-55" dirty="0">
                <a:latin typeface="Verdana"/>
                <a:cs typeface="Verdana"/>
              </a:rPr>
              <a:t>b,</a:t>
            </a:r>
            <a:r>
              <a:rPr sz="2000" spc="-280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B,</a:t>
            </a:r>
            <a:r>
              <a:rPr sz="2000" spc="-235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h,</a:t>
            </a:r>
            <a:r>
              <a:rPr sz="2000" spc="-29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area;</a:t>
            </a:r>
            <a:endParaRPr sz="2000">
              <a:latin typeface="Verdana"/>
              <a:cs typeface="Verdana"/>
            </a:endParaRPr>
          </a:p>
          <a:p>
            <a:pPr marL="12700" marR="2324100">
              <a:lnSpc>
                <a:spcPct val="100000"/>
              </a:lnSpc>
              <a:spcBef>
                <a:spcPts val="2400"/>
              </a:spcBef>
            </a:pPr>
            <a:r>
              <a:rPr sz="2000" dirty="0">
                <a:latin typeface="Verdana"/>
                <a:cs typeface="Verdana"/>
              </a:rPr>
              <a:t>b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-55" dirty="0">
                <a:latin typeface="Verdana"/>
                <a:cs typeface="Verdana"/>
              </a:rPr>
              <a:t>=6f; </a:t>
            </a:r>
            <a:r>
              <a:rPr sz="2000" dirty="0">
                <a:latin typeface="Verdana"/>
                <a:cs typeface="Verdana"/>
              </a:rPr>
              <a:t>B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spc="-95" dirty="0">
                <a:latin typeface="Verdana"/>
                <a:cs typeface="Verdana"/>
              </a:rPr>
              <a:t>=8f;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h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=5f;</a:t>
            </a:r>
            <a:endParaRPr sz="2000">
              <a:latin typeface="Verdana"/>
              <a:cs typeface="Verdana"/>
            </a:endParaRPr>
          </a:p>
          <a:p>
            <a:pPr marL="12700" marR="5080">
              <a:lnSpc>
                <a:spcPct val="200000"/>
              </a:lnSpc>
            </a:pPr>
            <a:r>
              <a:rPr sz="2000" spc="-40" dirty="0">
                <a:latin typeface="Verdana"/>
                <a:cs typeface="Verdana"/>
              </a:rPr>
              <a:t>area</a:t>
            </a:r>
            <a:r>
              <a:rPr sz="2000" spc="-200" dirty="0">
                <a:latin typeface="Verdana"/>
                <a:cs typeface="Verdana"/>
              </a:rPr>
              <a:t> </a:t>
            </a:r>
            <a:r>
              <a:rPr sz="2000" spc="-35" dirty="0">
                <a:latin typeface="Verdana"/>
                <a:cs typeface="Verdana"/>
              </a:rPr>
              <a:t>=(b</a:t>
            </a:r>
            <a:r>
              <a:rPr sz="2000" spc="-245" dirty="0">
                <a:latin typeface="Verdana"/>
                <a:cs typeface="Verdana"/>
              </a:rPr>
              <a:t> </a:t>
            </a:r>
            <a:r>
              <a:rPr sz="2000" spc="-30" dirty="0">
                <a:latin typeface="Verdana"/>
                <a:cs typeface="Verdana"/>
              </a:rPr>
              <a:t>+B)</a:t>
            </a:r>
            <a:r>
              <a:rPr sz="2000" spc="-2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*h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/</a:t>
            </a:r>
            <a:r>
              <a:rPr sz="2000" spc="-42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2f; </a:t>
            </a:r>
            <a:r>
              <a:rPr sz="2000" spc="-40" dirty="0">
                <a:latin typeface="Verdana"/>
                <a:cs typeface="Verdana"/>
              </a:rPr>
              <a:t>Console.WriteLine(area);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717675" y="835278"/>
            <a:ext cx="3288029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Exemplo </a:t>
            </a:r>
            <a:r>
              <a:rPr spc="-140" dirty="0"/>
              <a:t>Boas</a:t>
            </a:r>
            <a:r>
              <a:rPr spc="-320" dirty="0"/>
              <a:t> </a:t>
            </a:r>
            <a:r>
              <a:rPr spc="-105" dirty="0"/>
              <a:t>Práticas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74507" y="178307"/>
            <a:ext cx="2234183" cy="2738628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7147559" y="3092195"/>
            <a:ext cx="3741420" cy="2921635"/>
            <a:chOff x="7147559" y="3092195"/>
            <a:chExt cx="3741420" cy="292163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47559" y="3092195"/>
              <a:ext cx="3741420" cy="292150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11567" y="3156203"/>
              <a:ext cx="3563112" cy="27432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192517" y="3137153"/>
              <a:ext cx="3602354" cy="2781300"/>
            </a:xfrm>
            <a:custGeom>
              <a:avLst/>
              <a:gdLst/>
              <a:ahLst/>
              <a:cxnLst/>
              <a:rect l="l" t="t" r="r" b="b"/>
              <a:pathLst>
                <a:path w="3602354" h="2781300">
                  <a:moveTo>
                    <a:pt x="0" y="2781300"/>
                  </a:moveTo>
                  <a:lnTo>
                    <a:pt x="3602228" y="2781300"/>
                  </a:lnTo>
                  <a:lnTo>
                    <a:pt x="3602228" y="0"/>
                  </a:lnTo>
                  <a:lnTo>
                    <a:pt x="0" y="0"/>
                  </a:lnTo>
                  <a:lnTo>
                    <a:pt x="0" y="278130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17039" y="835278"/>
            <a:ext cx="36715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0" dirty="0"/>
              <a:t>Saída</a:t>
            </a:r>
            <a:r>
              <a:rPr spc="-409" dirty="0"/>
              <a:t> </a:t>
            </a:r>
            <a:r>
              <a:rPr spc="-30" dirty="0"/>
              <a:t>de</a:t>
            </a:r>
            <a:r>
              <a:rPr spc="-270" dirty="0"/>
              <a:t> </a:t>
            </a:r>
            <a:r>
              <a:rPr spc="-45" dirty="0"/>
              <a:t>dados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13992" y="1544193"/>
            <a:ext cx="8978265" cy="838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Verdana"/>
                <a:cs typeface="Verdana"/>
              </a:rPr>
              <a:t>Também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chamada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ESCRITA:</a:t>
            </a:r>
            <a:r>
              <a:rPr sz="2000" spc="345" dirty="0">
                <a:latin typeface="Verdana"/>
                <a:cs typeface="Verdana"/>
              </a:rPr>
              <a:t> </a:t>
            </a:r>
            <a:r>
              <a:rPr sz="2000" spc="-30" dirty="0">
                <a:latin typeface="Verdana"/>
                <a:cs typeface="Verdana"/>
              </a:rPr>
              <a:t>"O</a:t>
            </a:r>
            <a:r>
              <a:rPr sz="2000" spc="-20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programa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está</a:t>
            </a:r>
            <a:r>
              <a:rPr sz="2000" spc="-1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escrevendo</a:t>
            </a:r>
            <a:r>
              <a:rPr sz="2000" spc="-19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dados."</a:t>
            </a:r>
            <a:endParaRPr sz="2000">
              <a:latin typeface="Verdana"/>
              <a:cs typeface="Verdana"/>
            </a:endParaRPr>
          </a:p>
          <a:p>
            <a:pPr marL="5491480">
              <a:lnSpc>
                <a:spcPct val="100000"/>
              </a:lnSpc>
              <a:spcBef>
                <a:spcPts val="1595"/>
              </a:spcBef>
            </a:pPr>
            <a:r>
              <a:rPr sz="2000" dirty="0">
                <a:latin typeface="Calibri"/>
                <a:cs typeface="Calibri"/>
              </a:rPr>
              <a:t>Dispositivo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saída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12507" y="2770632"/>
            <a:ext cx="2357628" cy="17952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52344" y="1972055"/>
            <a:ext cx="2988563" cy="287274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713992" y="5056759"/>
            <a:ext cx="50647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Verdana"/>
                <a:cs typeface="Verdana"/>
              </a:rPr>
              <a:t>Para</a:t>
            </a:r>
            <a:r>
              <a:rPr sz="2000" spc="-175" dirty="0">
                <a:latin typeface="Verdana"/>
                <a:cs typeface="Verdana"/>
              </a:rPr>
              <a:t> </a:t>
            </a:r>
            <a:r>
              <a:rPr sz="2000" spc="-35" dirty="0">
                <a:latin typeface="Verdana"/>
                <a:cs typeface="Verdana"/>
              </a:rPr>
              <a:t>escrever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na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tela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60" dirty="0">
                <a:latin typeface="Verdana"/>
                <a:cs typeface="Verdana"/>
              </a:rPr>
              <a:t>um</a:t>
            </a:r>
            <a:r>
              <a:rPr sz="2000" spc="2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texto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qualquer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13992" y="5666943"/>
            <a:ext cx="393954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spc="-65" dirty="0">
                <a:latin typeface="Verdana"/>
                <a:cs typeface="Verdana"/>
              </a:rPr>
              <a:t>Sem</a:t>
            </a:r>
            <a:r>
              <a:rPr sz="2000" b="1" spc="-220" dirty="0">
                <a:latin typeface="Verdana"/>
                <a:cs typeface="Verdana"/>
              </a:rPr>
              <a:t> </a:t>
            </a:r>
            <a:r>
              <a:rPr sz="2000" b="1" spc="-70" dirty="0">
                <a:latin typeface="Verdana"/>
                <a:cs typeface="Verdana"/>
              </a:rPr>
              <a:t>quebra</a:t>
            </a:r>
            <a:r>
              <a:rPr sz="2000" b="1" spc="-204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de</a:t>
            </a:r>
            <a:r>
              <a:rPr sz="2000" b="1" spc="-120" dirty="0">
                <a:latin typeface="Verdana"/>
                <a:cs typeface="Verdana"/>
              </a:rPr>
              <a:t> </a:t>
            </a:r>
            <a:r>
              <a:rPr sz="2000" b="1" spc="-80" dirty="0">
                <a:latin typeface="Verdana"/>
                <a:cs typeface="Verdana"/>
              </a:rPr>
              <a:t>linha</a:t>
            </a:r>
            <a:r>
              <a:rPr sz="2000" b="1" spc="-155" dirty="0">
                <a:latin typeface="Verdana"/>
                <a:cs typeface="Verdana"/>
              </a:rPr>
              <a:t> </a:t>
            </a:r>
            <a:r>
              <a:rPr sz="2000" b="1" spc="-45" dirty="0">
                <a:latin typeface="Verdana"/>
                <a:cs typeface="Verdana"/>
              </a:rPr>
              <a:t>ao</a:t>
            </a:r>
            <a:r>
              <a:rPr sz="2000" b="1" spc="-175" dirty="0">
                <a:latin typeface="Verdana"/>
                <a:cs typeface="Verdana"/>
              </a:rPr>
              <a:t> </a:t>
            </a:r>
            <a:r>
              <a:rPr sz="2000" b="1" spc="-45" dirty="0">
                <a:latin typeface="Verdana"/>
                <a:cs typeface="Verdana"/>
              </a:rPr>
              <a:t>final: </a:t>
            </a:r>
            <a:r>
              <a:rPr sz="2000" b="1" spc="-25" dirty="0">
                <a:latin typeface="Verdana"/>
                <a:cs typeface="Verdana"/>
              </a:rPr>
              <a:t>Com</a:t>
            </a:r>
            <a:r>
              <a:rPr sz="2000" b="1" spc="-140" dirty="0">
                <a:latin typeface="Verdana"/>
                <a:cs typeface="Verdana"/>
              </a:rPr>
              <a:t> </a:t>
            </a:r>
            <a:r>
              <a:rPr sz="2000" b="1" spc="-70" dirty="0">
                <a:latin typeface="Verdana"/>
                <a:cs typeface="Verdana"/>
              </a:rPr>
              <a:t>quebra</a:t>
            </a:r>
            <a:r>
              <a:rPr sz="2000" b="1" spc="-204" dirty="0">
                <a:latin typeface="Verdana"/>
                <a:cs typeface="Verdana"/>
              </a:rPr>
              <a:t> </a:t>
            </a:r>
            <a:r>
              <a:rPr sz="2000" b="1" spc="-10" dirty="0">
                <a:latin typeface="Verdana"/>
                <a:cs typeface="Verdana"/>
              </a:rPr>
              <a:t>de</a:t>
            </a:r>
            <a:r>
              <a:rPr sz="2000" b="1" spc="-130" dirty="0">
                <a:latin typeface="Verdana"/>
                <a:cs typeface="Verdana"/>
              </a:rPr>
              <a:t> </a:t>
            </a:r>
            <a:r>
              <a:rPr sz="2000" b="1" spc="-80" dirty="0">
                <a:latin typeface="Verdana"/>
                <a:cs typeface="Verdana"/>
              </a:rPr>
              <a:t>linha</a:t>
            </a:r>
            <a:r>
              <a:rPr sz="2000" b="1" spc="-160" dirty="0">
                <a:latin typeface="Verdana"/>
                <a:cs typeface="Verdana"/>
              </a:rPr>
              <a:t> </a:t>
            </a:r>
            <a:r>
              <a:rPr sz="2000" b="1" spc="-45" dirty="0">
                <a:latin typeface="Verdana"/>
                <a:cs typeface="Verdana"/>
              </a:rPr>
              <a:t>ao</a:t>
            </a:r>
            <a:r>
              <a:rPr sz="2000" b="1" spc="-200" dirty="0">
                <a:latin typeface="Verdana"/>
                <a:cs typeface="Verdana"/>
              </a:rPr>
              <a:t> </a:t>
            </a:r>
            <a:r>
              <a:rPr sz="2000" b="1" spc="-80" dirty="0">
                <a:latin typeface="Verdana"/>
                <a:cs typeface="Verdana"/>
              </a:rPr>
              <a:t>final: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99453" y="5666943"/>
            <a:ext cx="3951604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" marR="5080" indent="-3048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Verdana"/>
                <a:cs typeface="Verdana"/>
              </a:rPr>
              <a:t>Console.Write("Bom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dia!"); Console.WriteLine("Bom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spc="-120" dirty="0">
                <a:latin typeface="Verdana"/>
                <a:cs typeface="Verdana"/>
              </a:rPr>
              <a:t>dia!");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17039" y="835278"/>
            <a:ext cx="36715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0" dirty="0"/>
              <a:t>Saída</a:t>
            </a:r>
            <a:r>
              <a:rPr spc="-409" dirty="0"/>
              <a:t> </a:t>
            </a:r>
            <a:r>
              <a:rPr spc="-30" dirty="0"/>
              <a:t>de</a:t>
            </a:r>
            <a:r>
              <a:rPr spc="-270" dirty="0"/>
              <a:t> </a:t>
            </a:r>
            <a:r>
              <a:rPr spc="-45" dirty="0"/>
              <a:t>dados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13992" y="1544193"/>
            <a:ext cx="9187815" cy="42824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6352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Verdana"/>
                <a:cs typeface="Verdana"/>
              </a:rPr>
              <a:t>Para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-35" dirty="0">
                <a:latin typeface="Verdana"/>
                <a:cs typeface="Verdana"/>
              </a:rPr>
              <a:t>escrever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conteúdo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uma</a:t>
            </a:r>
            <a:r>
              <a:rPr sz="2000" spc="15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variável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spc="50" dirty="0">
                <a:latin typeface="Verdana"/>
                <a:cs typeface="Verdana"/>
              </a:rPr>
              <a:t>com</a:t>
            </a:r>
            <a:r>
              <a:rPr sz="2000" spc="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ponto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flutuante </a:t>
            </a:r>
            <a:r>
              <a:rPr sz="2000" dirty="0">
                <a:latin typeface="Verdana"/>
                <a:cs typeface="Verdana"/>
              </a:rPr>
              <a:t>devemos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usar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uma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biblioteca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para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poder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utilizar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spc="60" dirty="0">
                <a:latin typeface="Verdana"/>
                <a:cs typeface="Verdana"/>
              </a:rPr>
              <a:t>um</a:t>
            </a:r>
            <a:r>
              <a:rPr sz="2000" spc="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recurso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conforme </a:t>
            </a:r>
            <a:r>
              <a:rPr sz="2000" dirty="0">
                <a:latin typeface="Verdana"/>
                <a:cs typeface="Verdana"/>
              </a:rPr>
              <a:t>exemplo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abaixo.</a:t>
            </a:r>
            <a:endParaRPr sz="20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400"/>
              </a:spcBef>
            </a:pPr>
            <a:r>
              <a:rPr sz="2000" dirty="0">
                <a:latin typeface="Verdana"/>
                <a:cs typeface="Verdana"/>
              </a:rPr>
              <a:t>Suponha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uma</a:t>
            </a:r>
            <a:r>
              <a:rPr sz="2000" spc="40" dirty="0">
                <a:latin typeface="Verdana"/>
                <a:cs typeface="Verdana"/>
              </a:rPr>
              <a:t> </a:t>
            </a:r>
            <a:r>
              <a:rPr sz="2000" spc="-55" dirty="0">
                <a:latin typeface="Verdana"/>
                <a:cs typeface="Verdana"/>
              </a:rPr>
              <a:t>variável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tipo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double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declarada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iniciada:</a:t>
            </a:r>
            <a:endParaRPr sz="2000" dirty="0">
              <a:latin typeface="Verdana"/>
              <a:cs typeface="Verdana"/>
            </a:endParaRPr>
          </a:p>
          <a:p>
            <a:pPr marL="12700" marR="6258560">
              <a:lnSpc>
                <a:spcPts val="4800"/>
              </a:lnSpc>
              <a:spcBef>
                <a:spcPts val="285"/>
              </a:spcBef>
            </a:pPr>
            <a:r>
              <a:rPr sz="2000" dirty="0">
                <a:latin typeface="Consolas"/>
                <a:cs typeface="Consolas"/>
              </a:rPr>
              <a:t>double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x</a:t>
            </a:r>
            <a:r>
              <a:rPr sz="2000" spc="-1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=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10.35784; </a:t>
            </a:r>
            <a:r>
              <a:rPr sz="2000" spc="-20" dirty="0">
                <a:latin typeface="Consolas"/>
                <a:cs typeface="Consolas"/>
              </a:rPr>
              <a:t>Console.WriteLine(x);</a:t>
            </a:r>
            <a:endParaRPr sz="2000" dirty="0">
              <a:latin typeface="Consolas"/>
              <a:cs typeface="Consolas"/>
            </a:endParaRPr>
          </a:p>
          <a:p>
            <a:pPr marL="12700">
              <a:lnSpc>
                <a:spcPts val="1955"/>
              </a:lnSpc>
            </a:pPr>
            <a:r>
              <a:rPr sz="2000" spc="-10" dirty="0">
                <a:latin typeface="Consolas"/>
                <a:cs typeface="Consolas"/>
              </a:rPr>
              <a:t>Console.WriteLine(x.ToString("F2"));</a:t>
            </a:r>
            <a:endParaRPr sz="2000" dirty="0">
              <a:latin typeface="Consolas"/>
              <a:cs typeface="Consolas"/>
            </a:endParaRPr>
          </a:p>
          <a:p>
            <a:pPr marL="12700" marR="5080">
              <a:lnSpc>
                <a:spcPts val="2400"/>
              </a:lnSpc>
              <a:spcBef>
                <a:spcPts val="55"/>
              </a:spcBef>
            </a:pPr>
            <a:r>
              <a:rPr sz="2000" spc="-10" dirty="0">
                <a:latin typeface="Consolas"/>
                <a:cs typeface="Consolas"/>
              </a:rPr>
              <a:t>Console.WriteLine(x.ToString("F4")); </a:t>
            </a:r>
            <a:r>
              <a:rPr sz="2000" dirty="0">
                <a:latin typeface="Consolas"/>
                <a:cs typeface="Consolas"/>
              </a:rPr>
              <a:t>Console.WriteLine(x.ToString("F2",</a:t>
            </a:r>
            <a:r>
              <a:rPr sz="2000" spc="-275" dirty="0">
                <a:latin typeface="Consolas"/>
                <a:cs typeface="Consolas"/>
              </a:rPr>
              <a:t> </a:t>
            </a:r>
            <a:r>
              <a:rPr sz="2000" u="heavy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CultureInfo.InvariantCulture));</a:t>
            </a:r>
            <a:endParaRPr sz="20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2000" dirty="0">
              <a:latin typeface="Consolas"/>
              <a:cs typeface="Consolas"/>
            </a:endParaRPr>
          </a:p>
          <a:p>
            <a:pPr marL="4991735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using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System.Globalization;</a:t>
            </a:r>
            <a:endParaRPr sz="2000" dirty="0">
              <a:latin typeface="Consolas"/>
              <a:cs typeface="Consola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5652" y="5276088"/>
            <a:ext cx="114300" cy="292227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17039" y="835278"/>
            <a:ext cx="36715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0" dirty="0"/>
              <a:t>Saída</a:t>
            </a:r>
            <a:r>
              <a:rPr spc="-409" dirty="0"/>
              <a:t> </a:t>
            </a:r>
            <a:r>
              <a:rPr spc="-30" dirty="0"/>
              <a:t>de</a:t>
            </a:r>
            <a:r>
              <a:rPr spc="-270" dirty="0"/>
              <a:t> </a:t>
            </a:r>
            <a:r>
              <a:rPr spc="-45" dirty="0"/>
              <a:t>dados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13992" y="1544193"/>
            <a:ext cx="634111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Verdana"/>
                <a:cs typeface="Verdana"/>
              </a:rPr>
              <a:t>Para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concatenar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vários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elementos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em</a:t>
            </a:r>
            <a:r>
              <a:rPr sz="2000" spc="55" dirty="0">
                <a:latin typeface="Verdana"/>
                <a:cs typeface="Verdana"/>
              </a:rPr>
              <a:t> </a:t>
            </a:r>
            <a:r>
              <a:rPr sz="2000" spc="60" dirty="0">
                <a:latin typeface="Verdana"/>
                <a:cs typeface="Verdana"/>
              </a:rPr>
              <a:t>um</a:t>
            </a:r>
            <a:r>
              <a:rPr sz="2000" spc="8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mesmo </a:t>
            </a:r>
            <a:r>
              <a:rPr sz="2000" spc="50" dirty="0">
                <a:latin typeface="Verdana"/>
                <a:cs typeface="Verdana"/>
              </a:rPr>
              <a:t>comando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escrita</a:t>
            </a:r>
            <a:endParaRPr sz="200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695576" y="2466243"/>
          <a:ext cx="9966324" cy="21393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44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81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0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000" dirty="0">
                          <a:latin typeface="Verdana"/>
                          <a:cs typeface="Verdana"/>
                        </a:rPr>
                        <a:t>Regra</a:t>
                      </a:r>
                      <a:r>
                        <a:rPr sz="20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000" spc="-10" dirty="0">
                          <a:latin typeface="Verdana"/>
                          <a:cs typeface="Verdana"/>
                        </a:rPr>
                        <a:t>geral: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2000" dirty="0">
                          <a:latin typeface="Consolas"/>
                          <a:cs typeface="Consolas"/>
                        </a:rPr>
                        <a:t>elemento1</a:t>
                      </a:r>
                      <a:r>
                        <a:rPr sz="2000" spc="-4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+</a:t>
                      </a:r>
                      <a:r>
                        <a:rPr sz="200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elemento2</a:t>
                      </a:r>
                      <a:r>
                        <a:rPr sz="2000" spc="-5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+</a:t>
                      </a:r>
                      <a:r>
                        <a:rPr sz="2000" spc="-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elemento3</a:t>
                      </a:r>
                      <a:r>
                        <a:rPr sz="2000" spc="-6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+</a:t>
                      </a:r>
                      <a:r>
                        <a:rPr sz="2000" spc="-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25" dirty="0">
                          <a:latin typeface="Consolas"/>
                          <a:cs typeface="Consolas"/>
                        </a:rPr>
                        <a:t>...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113030" marB="0"/>
                </a:tc>
                <a:tc>
                  <a:txBody>
                    <a:bodyPr/>
                    <a:lstStyle/>
                    <a:p>
                      <a:pPr marL="29209" algn="ctr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2000" spc="-50" dirty="0">
                          <a:latin typeface="Consolas"/>
                          <a:cs typeface="Consolas"/>
                        </a:rPr>
                        <a:t>+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113030" marB="0"/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2000" spc="-10" dirty="0">
                          <a:latin typeface="Consolas"/>
                          <a:cs typeface="Consolas"/>
                        </a:rPr>
                        <a:t>elementoN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11303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98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2000" dirty="0">
                          <a:latin typeface="Consolas"/>
                          <a:cs typeface="Consolas"/>
                        </a:rPr>
                        <a:t>Console.WriteLine("RESULTADO</a:t>
                      </a:r>
                      <a:r>
                        <a:rPr sz="2000" spc="-9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4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"</a:t>
                      </a:r>
                      <a:r>
                        <a:rPr sz="2000" spc="-5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+</a:t>
                      </a:r>
                      <a:r>
                        <a:rPr sz="2000" spc="-4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25" dirty="0">
                          <a:latin typeface="Consolas"/>
                          <a:cs typeface="Consolas"/>
                        </a:rPr>
                        <a:t>x);</a:t>
                      </a:r>
                      <a:endParaRPr sz="2000">
                        <a:latin typeface="Consolas"/>
                        <a:cs typeface="Consolas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nsolas"/>
                          <a:cs typeface="Consolas"/>
                        </a:rPr>
                        <a:t>Console.WriteLine("O</a:t>
                      </a:r>
                      <a:r>
                        <a:rPr sz="2000" spc="-8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valor</a:t>
                      </a:r>
                      <a:r>
                        <a:rPr sz="2000" spc="-6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do</a:t>
                      </a:r>
                      <a:r>
                        <a:rPr sz="2000" spc="-4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troco</a:t>
                      </a:r>
                      <a:r>
                        <a:rPr sz="2000" spc="-5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é</a:t>
                      </a:r>
                      <a:r>
                        <a:rPr sz="2000" spc="-4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0" dirty="0">
                          <a:latin typeface="Consolas"/>
                          <a:cs typeface="Consolas"/>
                        </a:rPr>
                        <a:t>"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1123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2000" spc="-50" dirty="0">
                          <a:latin typeface="Consolas"/>
                          <a:cs typeface="Consolas"/>
                        </a:rPr>
                        <a:t>+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1377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nsolas"/>
                          <a:cs typeface="Consolas"/>
                        </a:rPr>
                        <a:t>x</a:t>
                      </a:r>
                      <a:r>
                        <a:rPr sz="2000" spc="-1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+</a:t>
                      </a:r>
                      <a:r>
                        <a:rPr sz="2000" spc="-1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"</a:t>
                      </a:r>
                      <a:r>
                        <a:rPr sz="2000" spc="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10" dirty="0">
                          <a:latin typeface="Consolas"/>
                          <a:cs typeface="Consolas"/>
                        </a:rPr>
                        <a:t>reais");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13779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31750">
                        <a:lnSpc>
                          <a:spcPts val="2039"/>
                        </a:lnSpc>
                      </a:pPr>
                      <a:r>
                        <a:rPr sz="2000" dirty="0">
                          <a:latin typeface="Consolas"/>
                          <a:cs typeface="Consolas"/>
                        </a:rPr>
                        <a:t>Console.WriteLine("O</a:t>
                      </a:r>
                      <a:r>
                        <a:rPr sz="2000" spc="-9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valor</a:t>
                      </a:r>
                      <a:r>
                        <a:rPr sz="2000" spc="-5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do</a:t>
                      </a:r>
                      <a:r>
                        <a:rPr sz="2000" spc="-4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troco</a:t>
                      </a:r>
                      <a:r>
                        <a:rPr sz="2000" spc="-4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é</a:t>
                      </a:r>
                      <a:r>
                        <a:rPr sz="2000" spc="-4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0" dirty="0">
                          <a:latin typeface="Consolas"/>
                          <a:cs typeface="Consolas"/>
                        </a:rPr>
                        <a:t>"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2039"/>
                        </a:lnSpc>
                      </a:pPr>
                      <a:r>
                        <a:rPr sz="2000" spc="-50" dirty="0">
                          <a:latin typeface="Consolas"/>
                          <a:cs typeface="Consolas"/>
                        </a:rPr>
                        <a:t>+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2039"/>
                        </a:lnSpc>
                      </a:pPr>
                      <a:r>
                        <a:rPr sz="2000" dirty="0">
                          <a:latin typeface="Consolas"/>
                          <a:cs typeface="Consolas"/>
                        </a:rPr>
                        <a:t>x.ToString("F2")</a:t>
                      </a:r>
                      <a:r>
                        <a:rPr sz="2000" spc="-8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+</a:t>
                      </a:r>
                      <a:r>
                        <a:rPr sz="200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"</a:t>
                      </a:r>
                      <a:r>
                        <a:rPr sz="2000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10" dirty="0">
                          <a:latin typeface="Consolas"/>
                          <a:cs typeface="Consolas"/>
                        </a:rPr>
                        <a:t>reais");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Escopo</a:t>
            </a:r>
            <a:r>
              <a:rPr spc="-325" dirty="0"/>
              <a:t> </a:t>
            </a:r>
            <a:r>
              <a:rPr spc="-30" dirty="0"/>
              <a:t>de</a:t>
            </a:r>
            <a:r>
              <a:rPr spc="-305" dirty="0"/>
              <a:t> </a:t>
            </a:r>
            <a:r>
              <a:rPr spc="-50" dirty="0"/>
              <a:t>um</a:t>
            </a:r>
            <a:r>
              <a:rPr spc="-245" dirty="0"/>
              <a:t> </a:t>
            </a:r>
            <a:r>
              <a:rPr spc="-70" dirty="0"/>
              <a:t>programa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08091" y="2243327"/>
            <a:ext cx="164591" cy="17983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3539" y="4986528"/>
            <a:ext cx="166116" cy="18135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72667" y="1544193"/>
            <a:ext cx="8750300" cy="429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Verdana"/>
                <a:cs typeface="Verdana"/>
              </a:rPr>
              <a:t>Não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utilize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espaços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nem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caracteres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especiais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na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criação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do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programa</a:t>
            </a:r>
            <a:endParaRPr sz="2000" dirty="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b="1" dirty="0">
                <a:solidFill>
                  <a:srgbClr val="6EAC46"/>
                </a:solidFill>
                <a:latin typeface="Verdana"/>
                <a:cs typeface="Verdana"/>
              </a:rPr>
              <a:t>Bons:</a:t>
            </a:r>
            <a:r>
              <a:rPr sz="2000" b="1" spc="375" dirty="0">
                <a:solidFill>
                  <a:srgbClr val="6EAC46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MeuApp,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Pedidos,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MinhaApp</a:t>
            </a:r>
            <a:endParaRPr sz="2000" dirty="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  <a:tab pos="4305935" algn="l"/>
              </a:tabLst>
            </a:pPr>
            <a:r>
              <a:rPr sz="2000" b="1" spc="-110" dirty="0">
                <a:solidFill>
                  <a:srgbClr val="FF0000"/>
                </a:solidFill>
                <a:latin typeface="Verdana"/>
                <a:cs typeface="Verdana"/>
              </a:rPr>
              <a:t>Ruins:</a:t>
            </a:r>
            <a:r>
              <a:rPr sz="2000" b="1" spc="-18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“Meu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spc="-45" dirty="0">
                <a:latin typeface="Verdana"/>
                <a:cs typeface="Verdana"/>
              </a:rPr>
              <a:t>App”,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$APP,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App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Teste</a:t>
            </a:r>
            <a:endParaRPr sz="20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400"/>
              </a:spcBef>
            </a:pPr>
            <a:r>
              <a:rPr sz="2000" dirty="0">
                <a:latin typeface="Verdana"/>
                <a:cs typeface="Verdana"/>
              </a:rPr>
              <a:t>Tente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utilizar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caminhos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curtos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sem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caracteres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especiais</a:t>
            </a:r>
            <a:endParaRPr sz="2000" dirty="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  <a:tab pos="2345690" algn="l"/>
                <a:tab pos="3075940" algn="l"/>
              </a:tabLst>
            </a:pPr>
            <a:r>
              <a:rPr sz="2000" b="1" dirty="0">
                <a:solidFill>
                  <a:srgbClr val="6EAC46"/>
                </a:solidFill>
                <a:latin typeface="Verdana"/>
                <a:cs typeface="Verdana"/>
              </a:rPr>
              <a:t>Bons:</a:t>
            </a:r>
            <a:r>
              <a:rPr sz="2000" b="1" spc="-165" dirty="0">
                <a:solidFill>
                  <a:srgbClr val="6EAC46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C:\dev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5" dirty="0">
                <a:latin typeface="Verdana"/>
                <a:cs typeface="Verdana"/>
              </a:rPr>
              <a:t>ou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C:\apps</a:t>
            </a:r>
            <a:endParaRPr sz="2000" dirty="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b="1" spc="-110" dirty="0">
                <a:solidFill>
                  <a:srgbClr val="FF0000"/>
                </a:solidFill>
                <a:latin typeface="Verdana"/>
                <a:cs typeface="Verdana"/>
              </a:rPr>
              <a:t>Ruins:</a:t>
            </a:r>
            <a:r>
              <a:rPr sz="2000" b="1" spc="-21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C:\Caminho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Com</a:t>
            </a:r>
            <a:r>
              <a:rPr sz="2000" spc="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Espaços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Caracteres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Especiais\Meu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App</a:t>
            </a:r>
            <a:endParaRPr sz="20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400"/>
              </a:spcBef>
            </a:pPr>
            <a:r>
              <a:rPr sz="2000" dirty="0">
                <a:latin typeface="Verdana"/>
                <a:cs typeface="Verdana"/>
              </a:rPr>
              <a:t>Evite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caminhos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rede</a:t>
            </a:r>
            <a:endParaRPr sz="2000" dirty="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spc="-40" dirty="0">
                <a:latin typeface="Verdana"/>
                <a:cs typeface="Verdana"/>
              </a:rPr>
              <a:t>Se</a:t>
            </a:r>
            <a:r>
              <a:rPr sz="2000" spc="-215" dirty="0">
                <a:latin typeface="Verdana"/>
                <a:cs typeface="Verdana"/>
              </a:rPr>
              <a:t> </a:t>
            </a:r>
            <a:r>
              <a:rPr sz="2000" spc="-70" dirty="0">
                <a:latin typeface="Verdana"/>
                <a:cs typeface="Verdana"/>
              </a:rPr>
              <a:t>possível,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utilize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C:\</a:t>
            </a:r>
            <a:endParaRPr sz="20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405"/>
              </a:spcBef>
            </a:pPr>
            <a:r>
              <a:rPr sz="2000" dirty="0">
                <a:latin typeface="Verdana"/>
                <a:cs typeface="Verdana"/>
              </a:rPr>
              <a:t>O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254" dirty="0">
                <a:latin typeface="Verdana"/>
                <a:cs typeface="Verdana"/>
              </a:rPr>
              <a:t>C</a:t>
            </a:r>
            <a:r>
              <a:rPr lang="pt-BR" sz="2000" spc="-254" dirty="0">
                <a:latin typeface="Verdana"/>
                <a:cs typeface="Verdana"/>
              </a:rPr>
              <a:t>     </a:t>
            </a:r>
            <a:r>
              <a:rPr sz="2000" spc="-254" dirty="0">
                <a:latin typeface="Verdana"/>
                <a:cs typeface="Verdana"/>
              </a:rPr>
              <a:t>é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Code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Sensitive.</a:t>
            </a:r>
            <a:endParaRPr sz="20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000" spc="-65" dirty="0">
                <a:latin typeface="Verdana"/>
                <a:cs typeface="Verdana"/>
              </a:rPr>
              <a:t>Isto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significa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que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ele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diferencia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maiúsculas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minúsculas:</a:t>
            </a:r>
            <a:endParaRPr sz="2000" dirty="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b="1" spc="-85" dirty="0">
                <a:latin typeface="Verdana"/>
                <a:cs typeface="Verdana"/>
              </a:rPr>
              <a:t>Teste</a:t>
            </a:r>
            <a:r>
              <a:rPr sz="2000" b="1" spc="-1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é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diferente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b="1" spc="-10" dirty="0">
                <a:latin typeface="Verdana"/>
                <a:cs typeface="Verdana"/>
              </a:rPr>
              <a:t>teste</a:t>
            </a:r>
            <a:endParaRPr sz="20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Escopo</a:t>
            </a:r>
            <a:r>
              <a:rPr spc="-325" dirty="0"/>
              <a:t> </a:t>
            </a:r>
            <a:r>
              <a:rPr spc="-30" dirty="0"/>
              <a:t>de</a:t>
            </a:r>
            <a:r>
              <a:rPr spc="-305" dirty="0"/>
              <a:t> </a:t>
            </a:r>
            <a:r>
              <a:rPr spc="-50" dirty="0"/>
              <a:t>um</a:t>
            </a:r>
            <a:r>
              <a:rPr spc="-245" dirty="0"/>
              <a:t> </a:t>
            </a:r>
            <a:r>
              <a:rPr spc="-70" dirty="0"/>
              <a:t>programa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019" y="4510785"/>
            <a:ext cx="10030460" cy="1855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5" dirty="0">
                <a:latin typeface="Verdana"/>
                <a:cs typeface="Verdana"/>
              </a:rPr>
              <a:t>Importações</a:t>
            </a:r>
            <a:r>
              <a:rPr sz="2000" b="1" spc="-155" dirty="0">
                <a:latin typeface="Verdana"/>
                <a:cs typeface="Verdana"/>
              </a:rPr>
              <a:t> </a:t>
            </a:r>
            <a:r>
              <a:rPr sz="2000" b="1" spc="-10" dirty="0">
                <a:latin typeface="Verdana"/>
                <a:cs typeface="Verdana"/>
              </a:rPr>
              <a:t>(Using)</a:t>
            </a:r>
            <a:endParaRPr sz="20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2400"/>
              </a:spcBef>
            </a:pPr>
            <a:r>
              <a:rPr sz="2000" spc="-10" dirty="0">
                <a:latin typeface="Verdana"/>
                <a:cs typeface="Verdana"/>
              </a:rPr>
              <a:t>Importações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definem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35" dirty="0">
                <a:latin typeface="Verdana"/>
                <a:cs typeface="Verdana"/>
              </a:rPr>
              <a:t>as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bibliotecas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que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nosso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programa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spc="-40" dirty="0">
                <a:latin typeface="Verdana"/>
                <a:cs typeface="Verdana"/>
              </a:rPr>
              <a:t>irá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spc="-55" dirty="0">
                <a:latin typeface="Verdana"/>
                <a:cs typeface="Verdana"/>
              </a:rPr>
              <a:t>utilizar,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por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padrão </a:t>
            </a:r>
            <a:r>
              <a:rPr sz="2000" spc="-20" dirty="0">
                <a:latin typeface="Verdana"/>
                <a:cs typeface="Verdana"/>
              </a:rPr>
              <a:t>só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básico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vem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spc="-30" dirty="0">
                <a:latin typeface="Verdana"/>
                <a:cs typeface="Verdana"/>
              </a:rPr>
              <a:t>incluso,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precisamos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importar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que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desejamos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para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poder </a:t>
            </a:r>
            <a:r>
              <a:rPr sz="2000" dirty="0">
                <a:latin typeface="Verdana"/>
                <a:cs typeface="Verdana"/>
              </a:rPr>
              <a:t>trabalhar,</a:t>
            </a:r>
            <a:r>
              <a:rPr sz="2000" spc="330" dirty="0">
                <a:latin typeface="Verdana"/>
                <a:cs typeface="Verdana"/>
              </a:rPr>
              <a:t> </a:t>
            </a:r>
            <a:r>
              <a:rPr sz="2000" spc="-65" dirty="0">
                <a:latin typeface="Verdana"/>
                <a:cs typeface="Verdana"/>
              </a:rPr>
              <a:t>Isto</a:t>
            </a:r>
            <a:r>
              <a:rPr sz="2000" spc="-25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é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feito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no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50" dirty="0">
                <a:latin typeface="Verdana"/>
                <a:cs typeface="Verdana"/>
              </a:rPr>
              <a:t>começo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do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programa,</a:t>
            </a:r>
            <a:r>
              <a:rPr sz="2000" spc="-19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utilizamos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90" dirty="0">
                <a:latin typeface="Verdana"/>
                <a:cs typeface="Verdana"/>
              </a:rPr>
              <a:t> </a:t>
            </a:r>
            <a:r>
              <a:rPr sz="2000" spc="-45" dirty="0">
                <a:latin typeface="Verdana"/>
                <a:cs typeface="Verdana"/>
              </a:rPr>
              <a:t>palavra</a:t>
            </a:r>
            <a:r>
              <a:rPr sz="2000" spc="-19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reservada </a:t>
            </a:r>
            <a:r>
              <a:rPr sz="2000" dirty="0">
                <a:latin typeface="Verdana"/>
                <a:cs typeface="Verdana"/>
              </a:rPr>
              <a:t>using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para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isto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11067" y="1472183"/>
            <a:ext cx="5769863" cy="301142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Escopo</a:t>
            </a:r>
            <a:r>
              <a:rPr spc="-325" dirty="0"/>
              <a:t> </a:t>
            </a:r>
            <a:r>
              <a:rPr spc="-30" dirty="0"/>
              <a:t>de</a:t>
            </a:r>
            <a:r>
              <a:rPr spc="-305" dirty="0"/>
              <a:t> </a:t>
            </a:r>
            <a:r>
              <a:rPr spc="-50" dirty="0"/>
              <a:t>um</a:t>
            </a:r>
            <a:r>
              <a:rPr spc="-245" dirty="0"/>
              <a:t> </a:t>
            </a:r>
            <a:r>
              <a:rPr spc="-70" dirty="0"/>
              <a:t>programa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019" y="3622675"/>
            <a:ext cx="10177781" cy="25365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Verdana"/>
                <a:cs typeface="Verdana"/>
              </a:rPr>
              <a:t>Namespace</a:t>
            </a:r>
            <a:endParaRPr dirty="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2400"/>
              </a:spcBef>
            </a:pPr>
            <a:r>
              <a:rPr dirty="0">
                <a:latin typeface="Verdana"/>
                <a:cs typeface="Verdana"/>
              </a:rPr>
              <a:t>Enquanto</a:t>
            </a:r>
            <a:r>
              <a:rPr spc="-90" dirty="0">
                <a:latin typeface="Verdana"/>
                <a:cs typeface="Verdana"/>
              </a:rPr>
              <a:t> </a:t>
            </a:r>
            <a:r>
              <a:rPr spc="-35" dirty="0">
                <a:latin typeface="Verdana"/>
                <a:cs typeface="Verdana"/>
              </a:rPr>
              <a:t>as</a:t>
            </a:r>
            <a:r>
              <a:rPr spc="-160" dirty="0">
                <a:latin typeface="Verdana"/>
                <a:cs typeface="Verdana"/>
              </a:rPr>
              <a:t> </a:t>
            </a:r>
            <a:r>
              <a:rPr spc="-30" dirty="0">
                <a:latin typeface="Verdana"/>
                <a:cs typeface="Verdana"/>
              </a:rPr>
              <a:t>pastas</a:t>
            </a:r>
            <a:r>
              <a:rPr spc="-140" dirty="0">
                <a:latin typeface="Verdana"/>
                <a:cs typeface="Verdana"/>
              </a:rPr>
              <a:t> </a:t>
            </a:r>
            <a:r>
              <a:rPr spc="-25" dirty="0">
                <a:latin typeface="Verdana"/>
                <a:cs typeface="Verdana"/>
              </a:rPr>
              <a:t>são</a:t>
            </a:r>
            <a:r>
              <a:rPr spc="-114" dirty="0">
                <a:latin typeface="Verdana"/>
                <a:cs typeface="Verdana"/>
              </a:rPr>
              <a:t> </a:t>
            </a:r>
            <a:r>
              <a:rPr spc="-35" dirty="0">
                <a:latin typeface="Verdana"/>
                <a:cs typeface="Verdana"/>
              </a:rPr>
              <a:t>as</a:t>
            </a:r>
            <a:r>
              <a:rPr spc="-160" dirty="0">
                <a:latin typeface="Verdana"/>
                <a:cs typeface="Verdana"/>
              </a:rPr>
              <a:t> </a:t>
            </a:r>
            <a:r>
              <a:rPr spc="-30" dirty="0">
                <a:latin typeface="Verdana"/>
                <a:cs typeface="Verdana"/>
              </a:rPr>
              <a:t>divisões</a:t>
            </a:r>
            <a:r>
              <a:rPr spc="-75" dirty="0">
                <a:latin typeface="Verdana"/>
                <a:cs typeface="Verdana"/>
              </a:rPr>
              <a:t> </a:t>
            </a:r>
            <a:r>
              <a:rPr spc="-65" dirty="0">
                <a:latin typeface="Verdana"/>
                <a:cs typeface="Verdana"/>
              </a:rPr>
              <a:t>físicas,</a:t>
            </a:r>
            <a:r>
              <a:rPr spc="-170" dirty="0">
                <a:latin typeface="Verdana"/>
                <a:cs typeface="Verdana"/>
              </a:rPr>
              <a:t> </a:t>
            </a:r>
            <a:r>
              <a:rPr spc="-10" dirty="0">
                <a:latin typeface="Verdana"/>
                <a:cs typeface="Verdana"/>
              </a:rPr>
              <a:t>os</a:t>
            </a:r>
            <a:r>
              <a:rPr spc="-110" dirty="0">
                <a:latin typeface="Verdana"/>
                <a:cs typeface="Verdana"/>
              </a:rPr>
              <a:t> </a:t>
            </a:r>
            <a:r>
              <a:rPr spc="-10" dirty="0">
                <a:latin typeface="Verdana"/>
                <a:cs typeface="Verdana"/>
              </a:rPr>
              <a:t>namespaces</a:t>
            </a:r>
            <a:r>
              <a:rPr spc="-140" dirty="0">
                <a:latin typeface="Verdana"/>
                <a:cs typeface="Verdana"/>
              </a:rPr>
              <a:t> </a:t>
            </a:r>
            <a:r>
              <a:rPr spc="-25" dirty="0">
                <a:latin typeface="Verdana"/>
                <a:cs typeface="Verdana"/>
              </a:rPr>
              <a:t>são</a:t>
            </a:r>
            <a:r>
              <a:rPr spc="-125" dirty="0">
                <a:latin typeface="Verdana"/>
                <a:cs typeface="Verdana"/>
              </a:rPr>
              <a:t> </a:t>
            </a:r>
            <a:r>
              <a:rPr spc="-35" dirty="0">
                <a:latin typeface="Verdana"/>
                <a:cs typeface="Verdana"/>
              </a:rPr>
              <a:t>as</a:t>
            </a:r>
            <a:r>
              <a:rPr spc="-150" dirty="0">
                <a:latin typeface="Verdana"/>
                <a:cs typeface="Verdana"/>
              </a:rPr>
              <a:t> </a:t>
            </a:r>
            <a:r>
              <a:rPr spc="-30" dirty="0">
                <a:latin typeface="Verdana"/>
                <a:cs typeface="Verdana"/>
              </a:rPr>
              <a:t>divisões</a:t>
            </a:r>
            <a:r>
              <a:rPr spc="-75" dirty="0">
                <a:latin typeface="Verdana"/>
                <a:cs typeface="Verdana"/>
              </a:rPr>
              <a:t> </a:t>
            </a:r>
            <a:r>
              <a:rPr spc="-10" dirty="0">
                <a:latin typeface="Verdana"/>
                <a:cs typeface="Verdana"/>
              </a:rPr>
              <a:t>lógicas. Assim</a:t>
            </a:r>
            <a:r>
              <a:rPr spc="-90" dirty="0">
                <a:latin typeface="Verdana"/>
                <a:cs typeface="Verdana"/>
              </a:rPr>
              <a:t> </a:t>
            </a:r>
            <a:r>
              <a:rPr spc="50" dirty="0">
                <a:latin typeface="Verdana"/>
                <a:cs typeface="Verdana"/>
              </a:rPr>
              <a:t>como</a:t>
            </a:r>
            <a:r>
              <a:rPr spc="-4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não</a:t>
            </a:r>
            <a:r>
              <a:rPr spc="-13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podemos</a:t>
            </a:r>
            <a:r>
              <a:rPr spc="-3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ter</a:t>
            </a:r>
            <a:r>
              <a:rPr spc="-105" dirty="0">
                <a:latin typeface="Verdana"/>
                <a:cs typeface="Verdana"/>
              </a:rPr>
              <a:t> </a:t>
            </a:r>
            <a:r>
              <a:rPr spc="-10" dirty="0">
                <a:latin typeface="Verdana"/>
                <a:cs typeface="Verdana"/>
              </a:rPr>
              <a:t>dois</a:t>
            </a:r>
            <a:r>
              <a:rPr spc="-110" dirty="0">
                <a:latin typeface="Verdana"/>
                <a:cs typeface="Verdana"/>
              </a:rPr>
              <a:t> </a:t>
            </a:r>
            <a:r>
              <a:rPr spc="-25" dirty="0">
                <a:latin typeface="Verdana"/>
                <a:cs typeface="Verdana"/>
              </a:rPr>
              <a:t>arquivos</a:t>
            </a:r>
            <a:r>
              <a:rPr spc="-125" dirty="0">
                <a:latin typeface="Verdana"/>
                <a:cs typeface="Verdana"/>
              </a:rPr>
              <a:t> </a:t>
            </a:r>
            <a:r>
              <a:rPr spc="50" dirty="0">
                <a:latin typeface="Verdana"/>
                <a:cs typeface="Verdana"/>
              </a:rPr>
              <a:t>com</a:t>
            </a:r>
            <a:r>
              <a:rPr spc="-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mesmo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nome</a:t>
            </a:r>
            <a:r>
              <a:rPr spc="-3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nas</a:t>
            </a:r>
            <a:r>
              <a:rPr spc="-135" dirty="0">
                <a:latin typeface="Verdana"/>
                <a:cs typeface="Verdana"/>
              </a:rPr>
              <a:t> </a:t>
            </a:r>
            <a:r>
              <a:rPr spc="-65" dirty="0">
                <a:latin typeface="Verdana"/>
                <a:cs typeface="Verdana"/>
              </a:rPr>
              <a:t>pastas,</a:t>
            </a:r>
            <a:r>
              <a:rPr spc="-225" dirty="0">
                <a:latin typeface="Verdana"/>
                <a:cs typeface="Verdana"/>
              </a:rPr>
              <a:t> </a:t>
            </a:r>
            <a:r>
              <a:rPr spc="-25" dirty="0">
                <a:latin typeface="Verdana"/>
                <a:cs typeface="Verdana"/>
              </a:rPr>
              <a:t>não </a:t>
            </a:r>
            <a:r>
              <a:rPr dirty="0">
                <a:latin typeface="Verdana"/>
                <a:cs typeface="Verdana"/>
              </a:rPr>
              <a:t>podemos</a:t>
            </a:r>
            <a:r>
              <a:rPr spc="-12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ter</a:t>
            </a:r>
            <a:r>
              <a:rPr spc="-11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duas</a:t>
            </a:r>
            <a:r>
              <a:rPr spc="-145" dirty="0">
                <a:latin typeface="Verdana"/>
                <a:cs typeface="Verdana"/>
              </a:rPr>
              <a:t> </a:t>
            </a:r>
            <a:r>
              <a:rPr spc="-45" dirty="0">
                <a:latin typeface="Verdana"/>
                <a:cs typeface="Verdana"/>
              </a:rPr>
              <a:t>classes</a:t>
            </a:r>
            <a:r>
              <a:rPr spc="-125" dirty="0">
                <a:latin typeface="Verdana"/>
                <a:cs typeface="Verdana"/>
              </a:rPr>
              <a:t> </a:t>
            </a:r>
            <a:r>
              <a:rPr spc="50" dirty="0">
                <a:latin typeface="Verdana"/>
                <a:cs typeface="Verdana"/>
              </a:rPr>
              <a:t>com</a:t>
            </a:r>
            <a:r>
              <a:rPr spc="-2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mesmo</a:t>
            </a:r>
            <a:r>
              <a:rPr spc="5" dirty="0">
                <a:latin typeface="Verdana"/>
                <a:cs typeface="Verdana"/>
              </a:rPr>
              <a:t> </a:t>
            </a:r>
            <a:r>
              <a:rPr spc="50" dirty="0">
                <a:latin typeface="Verdana"/>
                <a:cs typeface="Verdana"/>
              </a:rPr>
              <a:t>nome</a:t>
            </a:r>
            <a:r>
              <a:rPr spc="-6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em</a:t>
            </a:r>
            <a:r>
              <a:rPr spc="-5" dirty="0">
                <a:latin typeface="Verdana"/>
                <a:cs typeface="Verdana"/>
              </a:rPr>
              <a:t> </a:t>
            </a:r>
            <a:r>
              <a:rPr spc="60" dirty="0">
                <a:latin typeface="Verdana"/>
                <a:cs typeface="Verdana"/>
              </a:rPr>
              <a:t>um</a:t>
            </a:r>
            <a:r>
              <a:rPr spc="30" dirty="0">
                <a:latin typeface="Verdana"/>
                <a:cs typeface="Verdana"/>
              </a:rPr>
              <a:t> </a:t>
            </a:r>
            <a:r>
              <a:rPr spc="-10" dirty="0">
                <a:latin typeface="Verdana"/>
                <a:cs typeface="Verdana"/>
              </a:rPr>
              <a:t>namespace,</a:t>
            </a:r>
            <a:r>
              <a:rPr spc="-14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o</a:t>
            </a:r>
            <a:r>
              <a:rPr spc="-120" dirty="0">
                <a:latin typeface="Verdana"/>
                <a:cs typeface="Verdana"/>
              </a:rPr>
              <a:t> </a:t>
            </a:r>
            <a:r>
              <a:rPr spc="-10" dirty="0">
                <a:latin typeface="Verdana"/>
                <a:cs typeface="Verdana"/>
              </a:rPr>
              <a:t>ideal</a:t>
            </a:r>
            <a:r>
              <a:rPr spc="-12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é</a:t>
            </a:r>
            <a:r>
              <a:rPr spc="-110" dirty="0">
                <a:latin typeface="Verdana"/>
                <a:cs typeface="Verdana"/>
              </a:rPr>
              <a:t> </a:t>
            </a:r>
            <a:r>
              <a:rPr spc="-25" dirty="0">
                <a:latin typeface="Verdana"/>
                <a:cs typeface="Verdana"/>
              </a:rPr>
              <a:t>ter </a:t>
            </a:r>
            <a:r>
              <a:rPr dirty="0">
                <a:latin typeface="Verdana"/>
                <a:cs typeface="Verdana"/>
              </a:rPr>
              <a:t>apenas</a:t>
            </a:r>
            <a:r>
              <a:rPr spc="-130" dirty="0">
                <a:latin typeface="Verdana"/>
                <a:cs typeface="Verdana"/>
              </a:rPr>
              <a:t> </a:t>
            </a:r>
            <a:r>
              <a:rPr spc="60" dirty="0">
                <a:latin typeface="Verdana"/>
                <a:cs typeface="Verdana"/>
              </a:rPr>
              <a:t>um</a:t>
            </a:r>
            <a:r>
              <a:rPr spc="6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namespace</a:t>
            </a:r>
            <a:r>
              <a:rPr spc="-14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e</a:t>
            </a:r>
            <a:r>
              <a:rPr spc="-6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uma </a:t>
            </a:r>
            <a:r>
              <a:rPr spc="-25" dirty="0">
                <a:latin typeface="Verdana"/>
                <a:cs typeface="Verdana"/>
              </a:rPr>
              <a:t>classe</a:t>
            </a:r>
            <a:r>
              <a:rPr spc="-12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por</a:t>
            </a:r>
            <a:r>
              <a:rPr spc="-90" dirty="0">
                <a:latin typeface="Verdana"/>
                <a:cs typeface="Verdana"/>
              </a:rPr>
              <a:t> </a:t>
            </a:r>
            <a:r>
              <a:rPr spc="-45" dirty="0">
                <a:latin typeface="Verdana"/>
                <a:cs typeface="Verdana"/>
              </a:rPr>
              <a:t>arquivo,</a:t>
            </a:r>
            <a:r>
              <a:rPr spc="-19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o</a:t>
            </a:r>
            <a:r>
              <a:rPr spc="-7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escopo</a:t>
            </a:r>
            <a:r>
              <a:rPr spc="-10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de</a:t>
            </a:r>
            <a:r>
              <a:rPr spc="-15" dirty="0">
                <a:latin typeface="Verdana"/>
                <a:cs typeface="Verdana"/>
              </a:rPr>
              <a:t> </a:t>
            </a:r>
            <a:r>
              <a:rPr spc="60" dirty="0">
                <a:latin typeface="Verdana"/>
                <a:cs typeface="Verdana"/>
              </a:rPr>
              <a:t>um</a:t>
            </a:r>
            <a:r>
              <a:rPr spc="6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namespace</a:t>
            </a:r>
            <a:r>
              <a:rPr spc="-114" dirty="0">
                <a:latin typeface="Verdana"/>
                <a:cs typeface="Verdana"/>
              </a:rPr>
              <a:t> </a:t>
            </a:r>
            <a:r>
              <a:rPr spc="-50" dirty="0">
                <a:latin typeface="Verdana"/>
                <a:cs typeface="Verdana"/>
              </a:rPr>
              <a:t>é </a:t>
            </a:r>
            <a:r>
              <a:rPr dirty="0">
                <a:latin typeface="Verdana"/>
                <a:cs typeface="Verdana"/>
              </a:rPr>
              <a:t>definido</a:t>
            </a:r>
            <a:r>
              <a:rPr spc="-11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entre</a:t>
            </a:r>
            <a:r>
              <a:rPr spc="-65" dirty="0">
                <a:latin typeface="Verdana"/>
                <a:cs typeface="Verdana"/>
              </a:rPr>
              <a:t> </a:t>
            </a:r>
            <a:r>
              <a:rPr spc="-30" dirty="0">
                <a:latin typeface="Verdana"/>
                <a:cs typeface="Verdana"/>
              </a:rPr>
              <a:t>CHAVES,</a:t>
            </a:r>
            <a:r>
              <a:rPr spc="-155" dirty="0">
                <a:latin typeface="Verdana"/>
                <a:cs typeface="Verdana"/>
              </a:rPr>
              <a:t> </a:t>
            </a:r>
            <a:r>
              <a:rPr spc="-40" dirty="0">
                <a:latin typeface="Verdana"/>
                <a:cs typeface="Verdana"/>
              </a:rPr>
              <a:t>Classes</a:t>
            </a:r>
            <a:r>
              <a:rPr spc="-12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e</a:t>
            </a:r>
            <a:r>
              <a:rPr spc="-4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métodos</a:t>
            </a:r>
            <a:r>
              <a:rPr spc="-7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também,</a:t>
            </a:r>
            <a:r>
              <a:rPr spc="-80" dirty="0">
                <a:latin typeface="Verdana"/>
                <a:cs typeface="Verdana"/>
              </a:rPr>
              <a:t> </a:t>
            </a:r>
            <a:r>
              <a:rPr spc="60" dirty="0">
                <a:latin typeface="Verdana"/>
                <a:cs typeface="Verdana"/>
              </a:rPr>
              <a:t>um</a:t>
            </a:r>
            <a:r>
              <a:rPr spc="13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namespace</a:t>
            </a:r>
            <a:r>
              <a:rPr spc="-11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pode </a:t>
            </a:r>
            <a:r>
              <a:rPr spc="-25" dirty="0">
                <a:latin typeface="Verdana"/>
                <a:cs typeface="Verdana"/>
              </a:rPr>
              <a:t>ser </a:t>
            </a:r>
            <a:r>
              <a:rPr spc="-10" dirty="0">
                <a:latin typeface="Verdana"/>
                <a:cs typeface="Verdana"/>
              </a:rPr>
              <a:t>reutilizado.</a:t>
            </a:r>
            <a:endParaRPr dirty="0">
              <a:latin typeface="Verdana"/>
              <a:cs typeface="Verdana"/>
            </a:endParaRPr>
          </a:p>
          <a:p>
            <a:pPr marL="12700" marR="273685">
              <a:lnSpc>
                <a:spcPct val="100000"/>
              </a:lnSpc>
              <a:spcBef>
                <a:spcPts val="5"/>
              </a:spcBef>
            </a:pPr>
            <a:r>
              <a:rPr spc="65" dirty="0">
                <a:latin typeface="Verdana"/>
                <a:cs typeface="Verdana"/>
              </a:rPr>
              <a:t>Pode</a:t>
            </a:r>
            <a:r>
              <a:rPr spc="-40" dirty="0">
                <a:latin typeface="Verdana"/>
                <a:cs typeface="Verdana"/>
              </a:rPr>
              <a:t> </a:t>
            </a:r>
            <a:r>
              <a:rPr spc="-30" dirty="0">
                <a:latin typeface="Verdana"/>
                <a:cs typeface="Verdana"/>
              </a:rPr>
              <a:t>estar</a:t>
            </a:r>
            <a:r>
              <a:rPr spc="-114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presente</a:t>
            </a:r>
            <a:r>
              <a:rPr spc="-13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em </a:t>
            </a:r>
            <a:r>
              <a:rPr spc="-35" dirty="0">
                <a:latin typeface="Verdana"/>
                <a:cs typeface="Verdana"/>
              </a:rPr>
              <a:t>diversos</a:t>
            </a:r>
            <a:r>
              <a:rPr spc="-160" dirty="0">
                <a:latin typeface="Verdana"/>
                <a:cs typeface="Verdana"/>
              </a:rPr>
              <a:t> </a:t>
            </a:r>
            <a:r>
              <a:rPr spc="-25" dirty="0">
                <a:latin typeface="Verdana"/>
                <a:cs typeface="Verdana"/>
              </a:rPr>
              <a:t>arquivos</a:t>
            </a:r>
            <a:r>
              <a:rPr spc="-130" dirty="0">
                <a:latin typeface="Verdana"/>
                <a:cs typeface="Verdana"/>
              </a:rPr>
              <a:t> </a:t>
            </a:r>
            <a:r>
              <a:rPr spc="50" dirty="0">
                <a:latin typeface="Verdana"/>
                <a:cs typeface="Verdana"/>
              </a:rPr>
              <a:t>Podemos</a:t>
            </a:r>
            <a:r>
              <a:rPr spc="-25" dirty="0">
                <a:latin typeface="Verdana"/>
                <a:cs typeface="Verdana"/>
              </a:rPr>
              <a:t> </a:t>
            </a:r>
            <a:r>
              <a:rPr spc="-30" dirty="0">
                <a:latin typeface="Verdana"/>
                <a:cs typeface="Verdana"/>
              </a:rPr>
              <a:t>criar</a:t>
            </a:r>
            <a:r>
              <a:rPr spc="-13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quantos</a:t>
            </a:r>
            <a:r>
              <a:rPr spc="-125" dirty="0">
                <a:latin typeface="Verdana"/>
                <a:cs typeface="Verdana"/>
              </a:rPr>
              <a:t> </a:t>
            </a:r>
            <a:r>
              <a:rPr spc="-10" dirty="0">
                <a:latin typeface="Verdana"/>
                <a:cs typeface="Verdana"/>
              </a:rPr>
              <a:t>namespaces quisermos</a:t>
            </a:r>
            <a:endParaRPr dirty="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74492" y="1472183"/>
            <a:ext cx="5843015" cy="2100072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76019" y="652617"/>
            <a:ext cx="5942965" cy="1164590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spc="-105" dirty="0"/>
              <a:t>Escopo</a:t>
            </a:r>
            <a:r>
              <a:rPr spc="-325" dirty="0"/>
              <a:t> </a:t>
            </a:r>
            <a:r>
              <a:rPr spc="-30" dirty="0"/>
              <a:t>de</a:t>
            </a:r>
            <a:r>
              <a:rPr spc="-305" dirty="0"/>
              <a:t> </a:t>
            </a:r>
            <a:r>
              <a:rPr spc="-50" dirty="0"/>
              <a:t>um</a:t>
            </a:r>
            <a:r>
              <a:rPr spc="-245" dirty="0"/>
              <a:t> </a:t>
            </a:r>
            <a:r>
              <a:rPr spc="-70" dirty="0"/>
              <a:t>programa</a:t>
            </a: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2000" spc="-10" dirty="0"/>
              <a:t>Namespace</a:t>
            </a:r>
            <a:endParaRPr sz="2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26935" y="3409188"/>
            <a:ext cx="164592" cy="18135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76019" y="2101342"/>
            <a:ext cx="10300970" cy="36849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Verdana"/>
                <a:cs typeface="Verdana"/>
              </a:rPr>
              <a:t>Não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devem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conter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espaços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ou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caracteres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-40" dirty="0">
                <a:latin typeface="Verdana"/>
                <a:cs typeface="Verdana"/>
              </a:rPr>
              <a:t>especiais,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toda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-40" dirty="0">
                <a:latin typeface="Verdana"/>
                <a:cs typeface="Verdana"/>
              </a:rPr>
              <a:t>palavra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no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namespace </a:t>
            </a:r>
            <a:r>
              <a:rPr sz="2000" dirty="0">
                <a:latin typeface="Verdana"/>
                <a:cs typeface="Verdana"/>
              </a:rPr>
              <a:t>começa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50" dirty="0">
                <a:latin typeface="Verdana"/>
                <a:cs typeface="Verdana"/>
              </a:rPr>
              <a:t>com</a:t>
            </a:r>
            <a:r>
              <a:rPr sz="2000" spc="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maiúsculo,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podemos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ter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spc="60" dirty="0">
                <a:latin typeface="Verdana"/>
                <a:cs typeface="Verdana"/>
              </a:rPr>
              <a:t>um</a:t>
            </a:r>
            <a:r>
              <a:rPr sz="2000" spc="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namespace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dentro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outro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usando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“.”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importação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que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vimos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anteriormente,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é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feita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pelos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namespaces,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normalmente </a:t>
            </a:r>
            <a:r>
              <a:rPr sz="2000" dirty="0">
                <a:latin typeface="Verdana"/>
                <a:cs typeface="Verdana"/>
              </a:rPr>
              <a:t>acompanham</a:t>
            </a:r>
            <a:r>
              <a:rPr sz="2000" spc="65" dirty="0"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os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nomes</a:t>
            </a:r>
            <a:r>
              <a:rPr sz="2000" spc="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das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pastas.</a:t>
            </a:r>
            <a:endParaRPr sz="2000" dirty="0">
              <a:latin typeface="Verdana"/>
              <a:cs typeface="Verdana"/>
            </a:endParaRPr>
          </a:p>
          <a:p>
            <a:pPr marL="12700" marR="532130">
              <a:lnSpc>
                <a:spcPct val="100000"/>
              </a:lnSpc>
            </a:pPr>
            <a:r>
              <a:rPr sz="2000" spc="-10" dirty="0">
                <a:latin typeface="Verdana"/>
                <a:cs typeface="Verdana"/>
              </a:rPr>
              <a:t>Durante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30" dirty="0">
                <a:latin typeface="Verdana"/>
                <a:cs typeface="Verdana"/>
              </a:rPr>
              <a:t>execução,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todos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os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arquivos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do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95" dirty="0">
                <a:latin typeface="Verdana"/>
                <a:cs typeface="Verdana"/>
              </a:rPr>
              <a:t>C</a:t>
            </a:r>
            <a:r>
              <a:rPr lang="pt-BR" sz="2000" spc="-95" dirty="0">
                <a:latin typeface="Verdana"/>
                <a:cs typeface="Verdana"/>
              </a:rPr>
              <a:t>    </a:t>
            </a:r>
            <a:r>
              <a:rPr sz="2000" spc="-95" dirty="0" err="1">
                <a:latin typeface="Verdana"/>
                <a:cs typeface="Verdana"/>
              </a:rPr>
              <a:t>serão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unificados,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40" dirty="0">
                <a:latin typeface="Verdana"/>
                <a:cs typeface="Verdana"/>
              </a:rPr>
              <a:t>divisão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física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se </a:t>
            </a:r>
            <a:r>
              <a:rPr sz="2000" spc="-45" dirty="0">
                <a:latin typeface="Verdana"/>
                <a:cs typeface="Verdana"/>
              </a:rPr>
              <a:t>perderá,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35" dirty="0">
                <a:latin typeface="Verdana"/>
                <a:cs typeface="Verdana"/>
              </a:rPr>
              <a:t>sobrará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apenas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40" dirty="0">
                <a:latin typeface="Verdana"/>
                <a:cs typeface="Verdana"/>
              </a:rPr>
              <a:t>divisão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35" dirty="0">
                <a:latin typeface="Verdana"/>
                <a:cs typeface="Verdana"/>
              </a:rPr>
              <a:t>lógica,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que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são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os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namespaces.</a:t>
            </a:r>
            <a:endParaRPr sz="2000" dirty="0">
              <a:latin typeface="Verdana"/>
              <a:cs typeface="Verdana"/>
            </a:endParaRPr>
          </a:p>
          <a:p>
            <a:pPr marL="12700" marR="113030">
              <a:lnSpc>
                <a:spcPct val="100000"/>
              </a:lnSpc>
              <a:spcBef>
                <a:spcPts val="2405"/>
              </a:spcBef>
            </a:pPr>
            <a:r>
              <a:rPr sz="2000" dirty="0">
                <a:latin typeface="Verdana"/>
                <a:cs typeface="Verdana"/>
              </a:rPr>
              <a:t>A </a:t>
            </a:r>
            <a:r>
              <a:rPr sz="2000" spc="-10" dirty="0">
                <a:latin typeface="Verdana"/>
                <a:cs typeface="Verdana"/>
              </a:rPr>
              <a:t>Organizar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do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nosso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código</a:t>
            </a:r>
            <a:r>
              <a:rPr sz="2000" spc="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em</a:t>
            </a:r>
            <a:r>
              <a:rPr sz="2000" spc="15" dirty="0">
                <a:latin typeface="Verdana"/>
                <a:cs typeface="Verdana"/>
              </a:rPr>
              <a:t> </a:t>
            </a:r>
            <a:r>
              <a:rPr sz="2000" spc="-30" dirty="0">
                <a:latin typeface="Verdana"/>
                <a:cs typeface="Verdana"/>
              </a:rPr>
              <a:t>pastas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namespaces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é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fundamental,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em </a:t>
            </a:r>
            <a:r>
              <a:rPr sz="2000" spc="-10" dirty="0">
                <a:latin typeface="Verdana"/>
                <a:cs typeface="Verdana"/>
              </a:rPr>
              <a:t>aplicações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30" dirty="0">
                <a:latin typeface="Verdana"/>
                <a:cs typeface="Verdana"/>
              </a:rPr>
              <a:t>grandes,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volume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código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é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alto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quantidade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arquivos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é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alta. </a:t>
            </a:r>
            <a:r>
              <a:rPr sz="2000" dirty="0">
                <a:latin typeface="Verdana"/>
                <a:cs typeface="Verdana"/>
              </a:rPr>
              <a:t>O</a:t>
            </a:r>
            <a:r>
              <a:rPr sz="2000" spc="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número</a:t>
            </a:r>
            <a:r>
              <a:rPr sz="2000" spc="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35" dirty="0">
                <a:latin typeface="Verdana"/>
                <a:cs typeface="Verdana"/>
              </a:rPr>
              <a:t> </a:t>
            </a:r>
            <a:r>
              <a:rPr sz="2000" spc="-30" dirty="0">
                <a:latin typeface="Verdana"/>
                <a:cs typeface="Verdana"/>
              </a:rPr>
              <a:t>pessoas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trabalhando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no</a:t>
            </a:r>
            <a:r>
              <a:rPr sz="2000" spc="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mesmo</a:t>
            </a:r>
            <a:r>
              <a:rPr sz="2000" spc="3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projeto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também</a:t>
            </a:r>
            <a:r>
              <a:rPr sz="2000" spc="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entender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bem </a:t>
            </a:r>
            <a:r>
              <a:rPr sz="2000" spc="-20" dirty="0">
                <a:latin typeface="Verdana"/>
                <a:cs typeface="Verdana"/>
              </a:rPr>
              <a:t>esta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organização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é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fundamental,</a:t>
            </a:r>
            <a:r>
              <a:rPr sz="2000" spc="-1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por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40" dirty="0">
                <a:latin typeface="Verdana"/>
                <a:cs typeface="Verdana"/>
              </a:rPr>
              <a:t>isso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use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abuse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da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criação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arquivos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e </a:t>
            </a:r>
            <a:r>
              <a:rPr sz="2000" spc="-10" dirty="0">
                <a:latin typeface="Verdana"/>
                <a:cs typeface="Verdana"/>
              </a:rPr>
              <a:t>namespaces.</a:t>
            </a:r>
            <a:endParaRPr sz="20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</TotalTime>
  <Words>2194</Words>
  <Application>Microsoft Office PowerPoint</Application>
  <PresentationFormat>Widescreen</PresentationFormat>
  <Paragraphs>323</Paragraphs>
  <Slides>44</Slides>
  <Notes>0</Notes>
  <HiddenSlides>7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44</vt:i4>
      </vt:variant>
    </vt:vector>
  </HeadingPairs>
  <TitlesOfParts>
    <vt:vector size="50" baseType="lpstr">
      <vt:lpstr>Arial MT</vt:lpstr>
      <vt:lpstr>Calibri</vt:lpstr>
      <vt:lpstr>Consolas</vt:lpstr>
      <vt:lpstr>Times New Roman</vt:lpstr>
      <vt:lpstr>Verdana</vt:lpstr>
      <vt:lpstr>Office Theme</vt:lpstr>
      <vt:lpstr>Instalação Visual Studio Community Curso: Fundamentos em Programação com Linguagem C</vt:lpstr>
      <vt:lpstr>Instalação</vt:lpstr>
      <vt:lpstr>Instalação</vt:lpstr>
      <vt:lpstr>Instalação</vt:lpstr>
      <vt:lpstr>Instalação</vt:lpstr>
      <vt:lpstr>Instalação</vt:lpstr>
      <vt:lpstr>Instalação</vt:lpstr>
      <vt:lpstr>Instalação</vt:lpstr>
      <vt:lpstr>Instalação</vt:lpstr>
      <vt:lpstr>Instalação</vt:lpstr>
      <vt:lpstr>Características da Linguagem C</vt:lpstr>
      <vt:lpstr>Tipagem de Dados C</vt:lpstr>
      <vt:lpstr>Tipagem de Dados C</vt:lpstr>
      <vt:lpstr>Tipagem de Dados C</vt:lpstr>
      <vt:lpstr>Tipos Primitivos em C</vt:lpstr>
      <vt:lpstr>Tipos Primitivos em C</vt:lpstr>
      <vt:lpstr>Tipos Primitivos em C</vt:lpstr>
      <vt:lpstr>Tipos Primitivos em C</vt:lpstr>
      <vt:lpstr>Tipos Primitivos em C</vt:lpstr>
      <vt:lpstr>Tipos Primitivos em C</vt:lpstr>
      <vt:lpstr>Tipos Primitivos em C</vt:lpstr>
      <vt:lpstr>Tipos Primitivos em C</vt:lpstr>
      <vt:lpstr>Tipos Primitivos em C</vt:lpstr>
      <vt:lpstr>Tipos Primitivos em C</vt:lpstr>
      <vt:lpstr>Declaração de variáveis</vt:lpstr>
      <vt:lpstr>Nomenclatura de variáveis</vt:lpstr>
      <vt:lpstr>Constantes</vt:lpstr>
      <vt:lpstr>Nomes Reservados</vt:lpstr>
      <vt:lpstr>Nomes Reservados</vt:lpstr>
      <vt:lpstr>Comentários</vt:lpstr>
      <vt:lpstr>Apresentação do PowerPoint</vt:lpstr>
      <vt:lpstr>Entrada de Dados</vt:lpstr>
      <vt:lpstr>Processamento de dados</vt:lpstr>
      <vt:lpstr>Processamento de dados</vt:lpstr>
      <vt:lpstr>Exemplo</vt:lpstr>
      <vt:lpstr>Exemplo Boas Práticas</vt:lpstr>
      <vt:lpstr>Exemplo Boas Práticas</vt:lpstr>
      <vt:lpstr>Saída de dados</vt:lpstr>
      <vt:lpstr>Saída de dados</vt:lpstr>
      <vt:lpstr>Saída de dados</vt:lpstr>
      <vt:lpstr>Escopo de um programa</vt:lpstr>
      <vt:lpstr>Escopo de um programa</vt:lpstr>
      <vt:lpstr>Escopo de um programa</vt:lpstr>
      <vt:lpstr>Escopo de um programa Namespace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admin</dc:creator>
  <cp:lastModifiedBy>Kessia Milena da Silva Machado</cp:lastModifiedBy>
  <cp:revision>2</cp:revision>
  <dcterms:created xsi:type="dcterms:W3CDTF">2026-04-24T15:16:33Z</dcterms:created>
  <dcterms:modified xsi:type="dcterms:W3CDTF">2026-04-24T16:22:13Z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2025-02-04T00:00:00Z</vt:filetime>
  </property>
  <property fmtid="{D5CDD505-2E9C-101B-9397-08002B2CF9AE}" pid="4" name="Creator">
    <vt:lpwstr>Microsoft® PowerPoint® 2019</vt:lpwstr>
  </property>
  <property fmtid="{D5CDD505-2E9C-101B-9397-08002B2CF9AE}" pid="5" name="LastSaved">
    <vt:filetime>2026-04-24T00:00:00Z</vt:filetime>
  </property>
  <property fmtid="{D5CDD505-2E9C-101B-9397-08002B2CF9AE}" pid="6" name="Producer">
    <vt:lpwstr>Microsoft® PowerPoint® 2019</vt:lpwstr>
  </property>
</Properties>
</file>